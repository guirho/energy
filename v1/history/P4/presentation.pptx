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86" r:id="rId2"/>
    <p:sldId id="273" r:id="rId3"/>
    <p:sldId id="257" r:id="rId4"/>
    <p:sldId id="278" r:id="rId5"/>
    <p:sldId id="258" r:id="rId6"/>
    <p:sldId id="260" r:id="rId7"/>
    <p:sldId id="261" r:id="rId8"/>
    <p:sldId id="262" r:id="rId9"/>
    <p:sldId id="264" r:id="rId10"/>
    <p:sldId id="276" r:id="rId11"/>
    <p:sldId id="263" r:id="rId12"/>
    <p:sldId id="267" r:id="rId13"/>
    <p:sldId id="268" r:id="rId14"/>
    <p:sldId id="269" r:id="rId15"/>
    <p:sldId id="279" r:id="rId16"/>
    <p:sldId id="280" r:id="rId17"/>
    <p:sldId id="281" r:id="rId18"/>
    <p:sldId id="284" r:id="rId19"/>
    <p:sldId id="285" r:id="rId20"/>
    <p:sldId id="283" r:id="rId21"/>
    <p:sldId id="270" r:id="rId22"/>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85" autoAdjust="0"/>
    <p:restoredTop sz="72890" autoAdjust="0"/>
  </p:normalViewPr>
  <p:slideViewPr>
    <p:cSldViewPr snapToGrid="0">
      <p:cViewPr varScale="1">
        <p:scale>
          <a:sx n="77" d="100"/>
          <a:sy n="77" d="100"/>
        </p:scale>
        <p:origin x="2082" y="294"/>
      </p:cViewPr>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_rels/data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svg"/><Relationship Id="rId1" Type="http://schemas.openxmlformats.org/officeDocument/2006/relationships/image" Target="../media/image28.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34C227-19FE-4B07-BEDE-77FEBD6E843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A9A9B596-CCDB-414A-847A-597FD3D8667E}">
      <dgm:prSet/>
      <dgm:spPr/>
      <dgm:t>
        <a:bodyPr/>
        <a:lstStyle/>
        <a:p>
          <a:r>
            <a:rPr lang="fr-FR" dirty="0"/>
            <a:t>Jeu initial</a:t>
          </a:r>
          <a:endParaRPr lang="en-US" dirty="0"/>
        </a:p>
      </dgm:t>
    </dgm:pt>
    <dgm:pt modelId="{5F5674DD-B863-4709-88C0-C5188F996921}" type="parTrans" cxnId="{028E5390-6CD9-4B37-B5DA-27BBD2EF01B6}">
      <dgm:prSet/>
      <dgm:spPr/>
      <dgm:t>
        <a:bodyPr/>
        <a:lstStyle/>
        <a:p>
          <a:endParaRPr lang="en-US"/>
        </a:p>
      </dgm:t>
    </dgm:pt>
    <dgm:pt modelId="{E6B53E12-4EF5-483F-B6DB-9E16F00ADC96}" type="sibTrans" cxnId="{028E5390-6CD9-4B37-B5DA-27BBD2EF01B6}">
      <dgm:prSet/>
      <dgm:spPr/>
      <dgm:t>
        <a:bodyPr/>
        <a:lstStyle/>
        <a:p>
          <a:endParaRPr lang="en-US"/>
        </a:p>
      </dgm:t>
    </dgm:pt>
    <dgm:pt modelId="{8EDB8782-24B2-4C7D-9EB9-750DD4EF57F9}">
      <dgm:prSet/>
      <dgm:spPr/>
      <dgm:t>
        <a:bodyPr/>
        <a:lstStyle/>
        <a:p>
          <a:r>
            <a:rPr lang="fr-FR" dirty="0"/>
            <a:t>Nettoyage et analyse</a:t>
          </a:r>
          <a:endParaRPr lang="en-US" dirty="0"/>
        </a:p>
      </dgm:t>
    </dgm:pt>
    <dgm:pt modelId="{72C83052-3688-4BE5-BC99-3A549BD4F77D}" type="parTrans" cxnId="{69C055BC-CE1A-46E1-A7F0-1FE5ED709E3F}">
      <dgm:prSet/>
      <dgm:spPr/>
      <dgm:t>
        <a:bodyPr/>
        <a:lstStyle/>
        <a:p>
          <a:endParaRPr lang="en-US"/>
        </a:p>
      </dgm:t>
    </dgm:pt>
    <dgm:pt modelId="{AC64D8C2-962C-4AC4-B29C-C60A7A060376}" type="sibTrans" cxnId="{69C055BC-CE1A-46E1-A7F0-1FE5ED709E3F}">
      <dgm:prSet/>
      <dgm:spPr/>
      <dgm:t>
        <a:bodyPr/>
        <a:lstStyle/>
        <a:p>
          <a:endParaRPr lang="en-US"/>
        </a:p>
      </dgm:t>
    </dgm:pt>
    <dgm:pt modelId="{8EFEA5CD-25DB-409D-BEB3-6A145FCC3861}">
      <dgm:prSet/>
      <dgm:spPr/>
      <dgm:t>
        <a:bodyPr/>
        <a:lstStyle/>
        <a:p>
          <a:r>
            <a:rPr lang="fr-FR" dirty="0" err="1"/>
            <a:t>Feature</a:t>
          </a:r>
          <a:r>
            <a:rPr lang="fr-FR" dirty="0"/>
            <a:t> Engineering</a:t>
          </a:r>
          <a:endParaRPr lang="en-US" dirty="0"/>
        </a:p>
      </dgm:t>
    </dgm:pt>
    <dgm:pt modelId="{9E714065-6B3A-4414-950A-607FCE265E64}" type="parTrans" cxnId="{FA37CA86-75FF-40BD-B8E4-316706C08884}">
      <dgm:prSet/>
      <dgm:spPr/>
      <dgm:t>
        <a:bodyPr/>
        <a:lstStyle/>
        <a:p>
          <a:endParaRPr lang="en-US"/>
        </a:p>
      </dgm:t>
    </dgm:pt>
    <dgm:pt modelId="{998598C1-4EA8-4D1B-B83A-31135594E35D}" type="sibTrans" cxnId="{FA37CA86-75FF-40BD-B8E4-316706C08884}">
      <dgm:prSet/>
      <dgm:spPr/>
      <dgm:t>
        <a:bodyPr/>
        <a:lstStyle/>
        <a:p>
          <a:endParaRPr lang="en-US"/>
        </a:p>
      </dgm:t>
    </dgm:pt>
    <dgm:pt modelId="{AEF22A9A-4752-4252-B195-06A078122CC7}">
      <dgm:prSet/>
      <dgm:spPr/>
      <dgm:t>
        <a:bodyPr/>
        <a:lstStyle/>
        <a:p>
          <a:r>
            <a:rPr lang="fr-FR" dirty="0" err="1"/>
            <a:t>Preprocessing</a:t>
          </a:r>
          <a:r>
            <a:rPr lang="fr-FR" dirty="0"/>
            <a:t> </a:t>
          </a:r>
          <a:endParaRPr lang="en-US" dirty="0"/>
        </a:p>
      </dgm:t>
    </dgm:pt>
    <dgm:pt modelId="{B7F73303-0BB0-4988-B6E5-53614416A4CE}" type="parTrans" cxnId="{B11CE487-F7AD-4E29-9042-43AC485152F7}">
      <dgm:prSet/>
      <dgm:spPr/>
      <dgm:t>
        <a:bodyPr/>
        <a:lstStyle/>
        <a:p>
          <a:endParaRPr lang="en-US"/>
        </a:p>
      </dgm:t>
    </dgm:pt>
    <dgm:pt modelId="{C9C69B67-AA91-4D91-ADAC-CE5675E44323}" type="sibTrans" cxnId="{B11CE487-F7AD-4E29-9042-43AC485152F7}">
      <dgm:prSet/>
      <dgm:spPr/>
      <dgm:t>
        <a:bodyPr/>
        <a:lstStyle/>
        <a:p>
          <a:endParaRPr lang="en-US"/>
        </a:p>
      </dgm:t>
    </dgm:pt>
    <dgm:pt modelId="{A85C1D55-7851-429E-B607-AB31D9A0680D}">
      <dgm:prSet/>
      <dgm:spPr/>
      <dgm:t>
        <a:bodyPr/>
        <a:lstStyle/>
        <a:p>
          <a:r>
            <a:rPr lang="fr-FR" dirty="0"/>
            <a:t>Modèles : aperçu</a:t>
          </a:r>
          <a:endParaRPr lang="en-US" dirty="0"/>
        </a:p>
      </dgm:t>
    </dgm:pt>
    <dgm:pt modelId="{33B95F11-58CE-4891-8CAA-D0648A5356C2}" type="parTrans" cxnId="{EA515E29-C48F-44F5-86CD-FD8F409805E7}">
      <dgm:prSet/>
      <dgm:spPr/>
      <dgm:t>
        <a:bodyPr/>
        <a:lstStyle/>
        <a:p>
          <a:endParaRPr lang="en-US"/>
        </a:p>
      </dgm:t>
    </dgm:pt>
    <dgm:pt modelId="{AC3371B3-C8C3-465D-8D32-91E866AD482C}" type="sibTrans" cxnId="{EA515E29-C48F-44F5-86CD-FD8F409805E7}">
      <dgm:prSet/>
      <dgm:spPr/>
      <dgm:t>
        <a:bodyPr/>
        <a:lstStyle/>
        <a:p>
          <a:endParaRPr lang="en-US"/>
        </a:p>
      </dgm:t>
    </dgm:pt>
    <dgm:pt modelId="{B7262CC2-99A2-4C8A-A509-5E0D1352D7C6}">
      <dgm:prSet/>
      <dgm:spPr/>
      <dgm:t>
        <a:bodyPr/>
        <a:lstStyle/>
        <a:p>
          <a:r>
            <a:rPr lang="en-US" dirty="0" err="1"/>
            <a:t>Modèles</a:t>
          </a:r>
          <a:r>
            <a:rPr lang="en-US" dirty="0"/>
            <a:t> : </a:t>
          </a:r>
          <a:r>
            <a:rPr lang="en-US" dirty="0" err="1"/>
            <a:t>amélioration</a:t>
          </a:r>
          <a:endParaRPr lang="en-US" dirty="0"/>
        </a:p>
      </dgm:t>
    </dgm:pt>
    <dgm:pt modelId="{781B7FA9-76A1-45AB-8CAC-CED6B582D95A}" type="parTrans" cxnId="{E98E6132-6C40-4AEA-84F3-1C356831C170}">
      <dgm:prSet/>
      <dgm:spPr/>
      <dgm:t>
        <a:bodyPr/>
        <a:lstStyle/>
        <a:p>
          <a:endParaRPr lang="en-US"/>
        </a:p>
      </dgm:t>
    </dgm:pt>
    <dgm:pt modelId="{C4BACEF5-9DBE-4A51-A6C8-E66F2270F3ED}" type="sibTrans" cxnId="{E98E6132-6C40-4AEA-84F3-1C356831C170}">
      <dgm:prSet/>
      <dgm:spPr/>
      <dgm:t>
        <a:bodyPr/>
        <a:lstStyle/>
        <a:p>
          <a:endParaRPr lang="en-US"/>
        </a:p>
      </dgm:t>
    </dgm:pt>
    <dgm:pt modelId="{0FB8C8F0-0E50-4010-AFBC-5E9D0AF2AE74}">
      <dgm:prSet/>
      <dgm:spPr/>
      <dgm:t>
        <a:bodyPr/>
        <a:lstStyle/>
        <a:p>
          <a:r>
            <a:rPr lang="fr-FR" dirty="0"/>
            <a:t>Analyse finale</a:t>
          </a:r>
          <a:endParaRPr lang="en-US" dirty="0"/>
        </a:p>
      </dgm:t>
    </dgm:pt>
    <dgm:pt modelId="{D94694FC-E6AA-44D0-9062-BB1C3518EF0F}" type="parTrans" cxnId="{293D3FC4-4EFF-4CB7-85CB-6D8DA9131610}">
      <dgm:prSet/>
      <dgm:spPr/>
      <dgm:t>
        <a:bodyPr/>
        <a:lstStyle/>
        <a:p>
          <a:endParaRPr lang="en-US"/>
        </a:p>
      </dgm:t>
    </dgm:pt>
    <dgm:pt modelId="{895C4FB9-BDE1-4A77-919B-52986B2911D1}" type="sibTrans" cxnId="{293D3FC4-4EFF-4CB7-85CB-6D8DA9131610}">
      <dgm:prSet/>
      <dgm:spPr/>
      <dgm:t>
        <a:bodyPr/>
        <a:lstStyle/>
        <a:p>
          <a:endParaRPr lang="en-US"/>
        </a:p>
      </dgm:t>
    </dgm:pt>
    <dgm:pt modelId="{E49750BE-F2AD-4394-BA64-04E4E048E93D}">
      <dgm:prSet/>
      <dgm:spPr/>
      <dgm:t>
        <a:bodyPr/>
        <a:lstStyle/>
        <a:p>
          <a:r>
            <a:rPr lang="en-US" dirty="0" err="1"/>
            <a:t>Energyscore</a:t>
          </a:r>
          <a:endParaRPr lang="en-US" dirty="0"/>
        </a:p>
      </dgm:t>
    </dgm:pt>
    <dgm:pt modelId="{496102FF-EA33-47A5-A7D2-300FD284025E}" type="parTrans" cxnId="{3D44A78C-753F-48A5-9E2F-3E0FF729B8EF}">
      <dgm:prSet/>
      <dgm:spPr/>
      <dgm:t>
        <a:bodyPr/>
        <a:lstStyle/>
        <a:p>
          <a:endParaRPr lang="en-US"/>
        </a:p>
      </dgm:t>
    </dgm:pt>
    <dgm:pt modelId="{9EE06516-06DC-423A-A5B1-5779879F15B5}" type="sibTrans" cxnId="{3D44A78C-753F-48A5-9E2F-3E0FF729B8EF}">
      <dgm:prSet/>
      <dgm:spPr/>
      <dgm:t>
        <a:bodyPr/>
        <a:lstStyle/>
        <a:p>
          <a:endParaRPr lang="en-US"/>
        </a:p>
      </dgm:t>
    </dgm:pt>
    <dgm:pt modelId="{E235E8F9-E177-465D-8956-2974C3A7B6D3}">
      <dgm:prSet/>
      <dgm:spPr/>
      <dgm:t>
        <a:bodyPr/>
        <a:lstStyle/>
        <a:p>
          <a:r>
            <a:rPr lang="en-US" dirty="0"/>
            <a:t>Conclusion</a:t>
          </a:r>
        </a:p>
      </dgm:t>
    </dgm:pt>
    <dgm:pt modelId="{398061D8-6BB3-4948-A48F-6B0B815183A6}" type="parTrans" cxnId="{F1D9C31A-926E-431C-8AC8-88176B4D1AB0}">
      <dgm:prSet/>
      <dgm:spPr/>
      <dgm:t>
        <a:bodyPr/>
        <a:lstStyle/>
        <a:p>
          <a:endParaRPr lang="en-US"/>
        </a:p>
      </dgm:t>
    </dgm:pt>
    <dgm:pt modelId="{299DD738-32D9-419D-A0F3-0BFDEFC16287}" type="sibTrans" cxnId="{F1D9C31A-926E-431C-8AC8-88176B4D1AB0}">
      <dgm:prSet/>
      <dgm:spPr/>
      <dgm:t>
        <a:bodyPr/>
        <a:lstStyle/>
        <a:p>
          <a:endParaRPr lang="en-US"/>
        </a:p>
      </dgm:t>
    </dgm:pt>
    <dgm:pt modelId="{C76318D0-926B-4108-83F6-05F9321E79CB}" type="pres">
      <dgm:prSet presAssocID="{0D34C227-19FE-4B07-BEDE-77FEBD6E8431}" presName="linear" presStyleCnt="0">
        <dgm:presLayoutVars>
          <dgm:dir/>
          <dgm:animLvl val="lvl"/>
          <dgm:resizeHandles val="exact"/>
        </dgm:presLayoutVars>
      </dgm:prSet>
      <dgm:spPr/>
    </dgm:pt>
    <dgm:pt modelId="{42A817D2-17ED-4187-814B-3282803842C3}" type="pres">
      <dgm:prSet presAssocID="{A9A9B596-CCDB-414A-847A-597FD3D8667E}" presName="parentLin" presStyleCnt="0"/>
      <dgm:spPr/>
    </dgm:pt>
    <dgm:pt modelId="{1228D355-6031-4B21-9E85-7EDA546D5B28}" type="pres">
      <dgm:prSet presAssocID="{A9A9B596-CCDB-414A-847A-597FD3D8667E}" presName="parentLeftMargin" presStyleLbl="node1" presStyleIdx="0" presStyleCnt="9"/>
      <dgm:spPr/>
    </dgm:pt>
    <dgm:pt modelId="{05351289-2531-48E4-AE14-1F1ACD914E4B}" type="pres">
      <dgm:prSet presAssocID="{A9A9B596-CCDB-414A-847A-597FD3D8667E}" presName="parentText" presStyleLbl="node1" presStyleIdx="0" presStyleCnt="9">
        <dgm:presLayoutVars>
          <dgm:chMax val="0"/>
          <dgm:bulletEnabled val="1"/>
        </dgm:presLayoutVars>
      </dgm:prSet>
      <dgm:spPr/>
    </dgm:pt>
    <dgm:pt modelId="{85FAA2B4-D17C-48C3-8A00-E3BAAD058793}" type="pres">
      <dgm:prSet presAssocID="{A9A9B596-CCDB-414A-847A-597FD3D8667E}" presName="negativeSpace" presStyleCnt="0"/>
      <dgm:spPr/>
    </dgm:pt>
    <dgm:pt modelId="{7F8E4A54-E850-4685-8FCC-715E69F294CC}" type="pres">
      <dgm:prSet presAssocID="{A9A9B596-CCDB-414A-847A-597FD3D8667E}" presName="childText" presStyleLbl="conFgAcc1" presStyleIdx="0" presStyleCnt="9">
        <dgm:presLayoutVars>
          <dgm:bulletEnabled val="1"/>
        </dgm:presLayoutVars>
      </dgm:prSet>
      <dgm:spPr/>
    </dgm:pt>
    <dgm:pt modelId="{A4CC7962-F8D4-43BE-8D24-5416BC8A6598}" type="pres">
      <dgm:prSet presAssocID="{E6B53E12-4EF5-483F-B6DB-9E16F00ADC96}" presName="spaceBetweenRectangles" presStyleCnt="0"/>
      <dgm:spPr/>
    </dgm:pt>
    <dgm:pt modelId="{3933E01B-7C04-444B-8135-8A85A821C8DA}" type="pres">
      <dgm:prSet presAssocID="{8EDB8782-24B2-4C7D-9EB9-750DD4EF57F9}" presName="parentLin" presStyleCnt="0"/>
      <dgm:spPr/>
    </dgm:pt>
    <dgm:pt modelId="{5477BCB0-9FB1-43F2-A676-8194646BD438}" type="pres">
      <dgm:prSet presAssocID="{8EDB8782-24B2-4C7D-9EB9-750DD4EF57F9}" presName="parentLeftMargin" presStyleLbl="node1" presStyleIdx="0" presStyleCnt="9"/>
      <dgm:spPr/>
    </dgm:pt>
    <dgm:pt modelId="{2DE5F94A-2796-4C47-80D1-A1BDA85ECB1D}" type="pres">
      <dgm:prSet presAssocID="{8EDB8782-24B2-4C7D-9EB9-750DD4EF57F9}" presName="parentText" presStyleLbl="node1" presStyleIdx="1" presStyleCnt="9">
        <dgm:presLayoutVars>
          <dgm:chMax val="0"/>
          <dgm:bulletEnabled val="1"/>
        </dgm:presLayoutVars>
      </dgm:prSet>
      <dgm:spPr/>
    </dgm:pt>
    <dgm:pt modelId="{2BFB2814-85F7-4437-9A5C-63EC7198223C}" type="pres">
      <dgm:prSet presAssocID="{8EDB8782-24B2-4C7D-9EB9-750DD4EF57F9}" presName="negativeSpace" presStyleCnt="0"/>
      <dgm:spPr/>
    </dgm:pt>
    <dgm:pt modelId="{AAB2EEC4-0C45-4B9B-A706-B06C24E16246}" type="pres">
      <dgm:prSet presAssocID="{8EDB8782-24B2-4C7D-9EB9-750DD4EF57F9}" presName="childText" presStyleLbl="conFgAcc1" presStyleIdx="1" presStyleCnt="9">
        <dgm:presLayoutVars>
          <dgm:bulletEnabled val="1"/>
        </dgm:presLayoutVars>
      </dgm:prSet>
      <dgm:spPr/>
    </dgm:pt>
    <dgm:pt modelId="{0DEAAB12-A7DA-4221-BE67-41449D9423B4}" type="pres">
      <dgm:prSet presAssocID="{AC64D8C2-962C-4AC4-B29C-C60A7A060376}" presName="spaceBetweenRectangles" presStyleCnt="0"/>
      <dgm:spPr/>
    </dgm:pt>
    <dgm:pt modelId="{58C29DAE-A47B-45C3-89A2-9245CF689177}" type="pres">
      <dgm:prSet presAssocID="{8EFEA5CD-25DB-409D-BEB3-6A145FCC3861}" presName="parentLin" presStyleCnt="0"/>
      <dgm:spPr/>
    </dgm:pt>
    <dgm:pt modelId="{2601EE8E-BA71-4DA1-A03A-8F87E966170B}" type="pres">
      <dgm:prSet presAssocID="{8EFEA5CD-25DB-409D-BEB3-6A145FCC3861}" presName="parentLeftMargin" presStyleLbl="node1" presStyleIdx="1" presStyleCnt="9"/>
      <dgm:spPr/>
    </dgm:pt>
    <dgm:pt modelId="{06B74643-A986-4CFE-9748-FF088008C4D8}" type="pres">
      <dgm:prSet presAssocID="{8EFEA5CD-25DB-409D-BEB3-6A145FCC3861}" presName="parentText" presStyleLbl="node1" presStyleIdx="2" presStyleCnt="9">
        <dgm:presLayoutVars>
          <dgm:chMax val="0"/>
          <dgm:bulletEnabled val="1"/>
        </dgm:presLayoutVars>
      </dgm:prSet>
      <dgm:spPr/>
    </dgm:pt>
    <dgm:pt modelId="{B043B13E-ED6B-44D3-9872-B911FA523674}" type="pres">
      <dgm:prSet presAssocID="{8EFEA5CD-25DB-409D-BEB3-6A145FCC3861}" presName="negativeSpace" presStyleCnt="0"/>
      <dgm:spPr/>
    </dgm:pt>
    <dgm:pt modelId="{E4452302-C34F-45A8-BC4F-CCD4EA73382B}" type="pres">
      <dgm:prSet presAssocID="{8EFEA5CD-25DB-409D-BEB3-6A145FCC3861}" presName="childText" presStyleLbl="conFgAcc1" presStyleIdx="2" presStyleCnt="9">
        <dgm:presLayoutVars>
          <dgm:bulletEnabled val="1"/>
        </dgm:presLayoutVars>
      </dgm:prSet>
      <dgm:spPr/>
    </dgm:pt>
    <dgm:pt modelId="{BCE8FF7D-7547-49A7-A181-22C17FF2E7B8}" type="pres">
      <dgm:prSet presAssocID="{998598C1-4EA8-4D1B-B83A-31135594E35D}" presName="spaceBetweenRectangles" presStyleCnt="0"/>
      <dgm:spPr/>
    </dgm:pt>
    <dgm:pt modelId="{402FCF9D-CDED-4A00-8FF7-7C1328EC443A}" type="pres">
      <dgm:prSet presAssocID="{AEF22A9A-4752-4252-B195-06A078122CC7}" presName="parentLin" presStyleCnt="0"/>
      <dgm:spPr/>
    </dgm:pt>
    <dgm:pt modelId="{75A93B9D-4BA5-4F43-97BE-908A73D4CCA6}" type="pres">
      <dgm:prSet presAssocID="{AEF22A9A-4752-4252-B195-06A078122CC7}" presName="parentLeftMargin" presStyleLbl="node1" presStyleIdx="2" presStyleCnt="9"/>
      <dgm:spPr/>
    </dgm:pt>
    <dgm:pt modelId="{1AB74EC6-5E0C-4D27-8AF1-C8551D8C4983}" type="pres">
      <dgm:prSet presAssocID="{AEF22A9A-4752-4252-B195-06A078122CC7}" presName="parentText" presStyleLbl="node1" presStyleIdx="3" presStyleCnt="9">
        <dgm:presLayoutVars>
          <dgm:chMax val="0"/>
          <dgm:bulletEnabled val="1"/>
        </dgm:presLayoutVars>
      </dgm:prSet>
      <dgm:spPr/>
    </dgm:pt>
    <dgm:pt modelId="{91B83DA3-9E4D-4765-AA37-D26C1C51CBE7}" type="pres">
      <dgm:prSet presAssocID="{AEF22A9A-4752-4252-B195-06A078122CC7}" presName="negativeSpace" presStyleCnt="0"/>
      <dgm:spPr/>
    </dgm:pt>
    <dgm:pt modelId="{9BBDDE09-0B7C-4563-8D15-A7C80E1CB4B7}" type="pres">
      <dgm:prSet presAssocID="{AEF22A9A-4752-4252-B195-06A078122CC7}" presName="childText" presStyleLbl="conFgAcc1" presStyleIdx="3" presStyleCnt="9">
        <dgm:presLayoutVars>
          <dgm:bulletEnabled val="1"/>
        </dgm:presLayoutVars>
      </dgm:prSet>
      <dgm:spPr/>
    </dgm:pt>
    <dgm:pt modelId="{A3777142-382F-462A-A84C-343CA9BD57AD}" type="pres">
      <dgm:prSet presAssocID="{C9C69B67-AA91-4D91-ADAC-CE5675E44323}" presName="spaceBetweenRectangles" presStyleCnt="0"/>
      <dgm:spPr/>
    </dgm:pt>
    <dgm:pt modelId="{38C5A66D-885D-410B-97CB-8C2D23650BAC}" type="pres">
      <dgm:prSet presAssocID="{A85C1D55-7851-429E-B607-AB31D9A0680D}" presName="parentLin" presStyleCnt="0"/>
      <dgm:spPr/>
    </dgm:pt>
    <dgm:pt modelId="{59067B05-6B4B-4D19-B5E3-1472B8F42043}" type="pres">
      <dgm:prSet presAssocID="{A85C1D55-7851-429E-B607-AB31D9A0680D}" presName="parentLeftMargin" presStyleLbl="node1" presStyleIdx="3" presStyleCnt="9"/>
      <dgm:spPr/>
    </dgm:pt>
    <dgm:pt modelId="{6B0D72B8-E5CC-4CDE-A69A-C442B9B87F97}" type="pres">
      <dgm:prSet presAssocID="{A85C1D55-7851-429E-B607-AB31D9A0680D}" presName="parentText" presStyleLbl="node1" presStyleIdx="4" presStyleCnt="9">
        <dgm:presLayoutVars>
          <dgm:chMax val="0"/>
          <dgm:bulletEnabled val="1"/>
        </dgm:presLayoutVars>
      </dgm:prSet>
      <dgm:spPr/>
    </dgm:pt>
    <dgm:pt modelId="{DCF5D094-D693-4E1D-B236-7E5141C59042}" type="pres">
      <dgm:prSet presAssocID="{A85C1D55-7851-429E-B607-AB31D9A0680D}" presName="negativeSpace" presStyleCnt="0"/>
      <dgm:spPr/>
    </dgm:pt>
    <dgm:pt modelId="{5EA4FF51-6BEB-4170-92D7-BC0B0DFD3BB9}" type="pres">
      <dgm:prSet presAssocID="{A85C1D55-7851-429E-B607-AB31D9A0680D}" presName="childText" presStyleLbl="conFgAcc1" presStyleIdx="4" presStyleCnt="9">
        <dgm:presLayoutVars>
          <dgm:bulletEnabled val="1"/>
        </dgm:presLayoutVars>
      </dgm:prSet>
      <dgm:spPr/>
    </dgm:pt>
    <dgm:pt modelId="{B981E1E9-DA09-417A-B452-F0A6CB1F2BE7}" type="pres">
      <dgm:prSet presAssocID="{AC3371B3-C8C3-465D-8D32-91E866AD482C}" presName="spaceBetweenRectangles" presStyleCnt="0"/>
      <dgm:spPr/>
    </dgm:pt>
    <dgm:pt modelId="{1966165E-AB4E-4AC3-BB3F-BAD951C4DA47}" type="pres">
      <dgm:prSet presAssocID="{B7262CC2-99A2-4C8A-A509-5E0D1352D7C6}" presName="parentLin" presStyleCnt="0"/>
      <dgm:spPr/>
    </dgm:pt>
    <dgm:pt modelId="{383D440D-917D-41C3-B65A-0FD3E5582DC8}" type="pres">
      <dgm:prSet presAssocID="{B7262CC2-99A2-4C8A-A509-5E0D1352D7C6}" presName="parentLeftMargin" presStyleLbl="node1" presStyleIdx="4" presStyleCnt="9"/>
      <dgm:spPr/>
    </dgm:pt>
    <dgm:pt modelId="{2D012D12-2CCD-448B-9A32-8C3718E0783C}" type="pres">
      <dgm:prSet presAssocID="{B7262CC2-99A2-4C8A-A509-5E0D1352D7C6}" presName="parentText" presStyleLbl="node1" presStyleIdx="5" presStyleCnt="9">
        <dgm:presLayoutVars>
          <dgm:chMax val="0"/>
          <dgm:bulletEnabled val="1"/>
        </dgm:presLayoutVars>
      </dgm:prSet>
      <dgm:spPr/>
    </dgm:pt>
    <dgm:pt modelId="{F6FD8155-1F27-4711-A315-4F1DA39F011E}" type="pres">
      <dgm:prSet presAssocID="{B7262CC2-99A2-4C8A-A509-5E0D1352D7C6}" presName="negativeSpace" presStyleCnt="0"/>
      <dgm:spPr/>
    </dgm:pt>
    <dgm:pt modelId="{8D6E6607-3D0F-41B6-B006-07808306566C}" type="pres">
      <dgm:prSet presAssocID="{B7262CC2-99A2-4C8A-A509-5E0D1352D7C6}" presName="childText" presStyleLbl="conFgAcc1" presStyleIdx="5" presStyleCnt="9">
        <dgm:presLayoutVars>
          <dgm:bulletEnabled val="1"/>
        </dgm:presLayoutVars>
      </dgm:prSet>
      <dgm:spPr/>
    </dgm:pt>
    <dgm:pt modelId="{8C92F433-CCF8-458E-AE78-4B70BA18EA80}" type="pres">
      <dgm:prSet presAssocID="{C4BACEF5-9DBE-4A51-A6C8-E66F2270F3ED}" presName="spaceBetweenRectangles" presStyleCnt="0"/>
      <dgm:spPr/>
    </dgm:pt>
    <dgm:pt modelId="{A94646F3-9EF0-4D8F-9C37-16AB972D2CD4}" type="pres">
      <dgm:prSet presAssocID="{0FB8C8F0-0E50-4010-AFBC-5E9D0AF2AE74}" presName="parentLin" presStyleCnt="0"/>
      <dgm:spPr/>
    </dgm:pt>
    <dgm:pt modelId="{C8280F56-D0B3-45AF-91B7-8928246B0B8E}" type="pres">
      <dgm:prSet presAssocID="{0FB8C8F0-0E50-4010-AFBC-5E9D0AF2AE74}" presName="parentLeftMargin" presStyleLbl="node1" presStyleIdx="5" presStyleCnt="9"/>
      <dgm:spPr/>
    </dgm:pt>
    <dgm:pt modelId="{4F807CDF-BF90-4398-BCED-96157E3D4896}" type="pres">
      <dgm:prSet presAssocID="{0FB8C8F0-0E50-4010-AFBC-5E9D0AF2AE74}" presName="parentText" presStyleLbl="node1" presStyleIdx="6" presStyleCnt="9">
        <dgm:presLayoutVars>
          <dgm:chMax val="0"/>
          <dgm:bulletEnabled val="1"/>
        </dgm:presLayoutVars>
      </dgm:prSet>
      <dgm:spPr/>
    </dgm:pt>
    <dgm:pt modelId="{4C4CF2A1-BDDD-4615-9A91-A9E07680EF43}" type="pres">
      <dgm:prSet presAssocID="{0FB8C8F0-0E50-4010-AFBC-5E9D0AF2AE74}" presName="negativeSpace" presStyleCnt="0"/>
      <dgm:spPr/>
    </dgm:pt>
    <dgm:pt modelId="{ED24817E-0BB3-4CD8-9600-3E60D0F36AB4}" type="pres">
      <dgm:prSet presAssocID="{0FB8C8F0-0E50-4010-AFBC-5E9D0AF2AE74}" presName="childText" presStyleLbl="conFgAcc1" presStyleIdx="6" presStyleCnt="9">
        <dgm:presLayoutVars>
          <dgm:bulletEnabled val="1"/>
        </dgm:presLayoutVars>
      </dgm:prSet>
      <dgm:spPr/>
    </dgm:pt>
    <dgm:pt modelId="{99335B19-EA54-454F-8FE1-FEC4395B7818}" type="pres">
      <dgm:prSet presAssocID="{895C4FB9-BDE1-4A77-919B-52986B2911D1}" presName="spaceBetweenRectangles" presStyleCnt="0"/>
      <dgm:spPr/>
    </dgm:pt>
    <dgm:pt modelId="{D13C0A8F-216A-4501-99F6-70894C697337}" type="pres">
      <dgm:prSet presAssocID="{E49750BE-F2AD-4394-BA64-04E4E048E93D}" presName="parentLin" presStyleCnt="0"/>
      <dgm:spPr/>
    </dgm:pt>
    <dgm:pt modelId="{131B569B-B4A3-4637-A382-F8F91BD51894}" type="pres">
      <dgm:prSet presAssocID="{E49750BE-F2AD-4394-BA64-04E4E048E93D}" presName="parentLeftMargin" presStyleLbl="node1" presStyleIdx="6" presStyleCnt="9"/>
      <dgm:spPr/>
    </dgm:pt>
    <dgm:pt modelId="{7278BD0D-886B-4477-BC96-C3305D2E7F43}" type="pres">
      <dgm:prSet presAssocID="{E49750BE-F2AD-4394-BA64-04E4E048E93D}" presName="parentText" presStyleLbl="node1" presStyleIdx="7" presStyleCnt="9">
        <dgm:presLayoutVars>
          <dgm:chMax val="0"/>
          <dgm:bulletEnabled val="1"/>
        </dgm:presLayoutVars>
      </dgm:prSet>
      <dgm:spPr/>
    </dgm:pt>
    <dgm:pt modelId="{875D706B-0933-4679-9D36-557A0C451556}" type="pres">
      <dgm:prSet presAssocID="{E49750BE-F2AD-4394-BA64-04E4E048E93D}" presName="negativeSpace" presStyleCnt="0"/>
      <dgm:spPr/>
    </dgm:pt>
    <dgm:pt modelId="{B9BECDF4-76EE-4DB0-AF46-D6D55ACA149F}" type="pres">
      <dgm:prSet presAssocID="{E49750BE-F2AD-4394-BA64-04E4E048E93D}" presName="childText" presStyleLbl="conFgAcc1" presStyleIdx="7" presStyleCnt="9">
        <dgm:presLayoutVars>
          <dgm:bulletEnabled val="1"/>
        </dgm:presLayoutVars>
      </dgm:prSet>
      <dgm:spPr/>
    </dgm:pt>
    <dgm:pt modelId="{8D4783AE-C840-497D-92CF-BCB847B8AC4B}" type="pres">
      <dgm:prSet presAssocID="{9EE06516-06DC-423A-A5B1-5779879F15B5}" presName="spaceBetweenRectangles" presStyleCnt="0"/>
      <dgm:spPr/>
    </dgm:pt>
    <dgm:pt modelId="{33F441BB-15CC-4DF5-B465-EAF5D75534EB}" type="pres">
      <dgm:prSet presAssocID="{E235E8F9-E177-465D-8956-2974C3A7B6D3}" presName="parentLin" presStyleCnt="0"/>
      <dgm:spPr/>
    </dgm:pt>
    <dgm:pt modelId="{568E8229-19EE-46E8-9388-845942AF53DB}" type="pres">
      <dgm:prSet presAssocID="{E235E8F9-E177-465D-8956-2974C3A7B6D3}" presName="parentLeftMargin" presStyleLbl="node1" presStyleIdx="7" presStyleCnt="9"/>
      <dgm:spPr/>
    </dgm:pt>
    <dgm:pt modelId="{1A036276-CA57-428F-8189-A24799BF348C}" type="pres">
      <dgm:prSet presAssocID="{E235E8F9-E177-465D-8956-2974C3A7B6D3}" presName="parentText" presStyleLbl="node1" presStyleIdx="8" presStyleCnt="9">
        <dgm:presLayoutVars>
          <dgm:chMax val="0"/>
          <dgm:bulletEnabled val="1"/>
        </dgm:presLayoutVars>
      </dgm:prSet>
      <dgm:spPr/>
    </dgm:pt>
    <dgm:pt modelId="{4D00C82C-C1B0-4DAD-BBF8-0CF3CEA9B6BB}" type="pres">
      <dgm:prSet presAssocID="{E235E8F9-E177-465D-8956-2974C3A7B6D3}" presName="negativeSpace" presStyleCnt="0"/>
      <dgm:spPr/>
    </dgm:pt>
    <dgm:pt modelId="{F5189E3C-D602-4397-B1A0-31F3A7481B42}" type="pres">
      <dgm:prSet presAssocID="{E235E8F9-E177-465D-8956-2974C3A7B6D3}" presName="childText" presStyleLbl="conFgAcc1" presStyleIdx="8" presStyleCnt="9">
        <dgm:presLayoutVars>
          <dgm:bulletEnabled val="1"/>
        </dgm:presLayoutVars>
      </dgm:prSet>
      <dgm:spPr/>
    </dgm:pt>
  </dgm:ptLst>
  <dgm:cxnLst>
    <dgm:cxn modelId="{3EF32001-4A85-4E4E-AA9D-B8CED784BA01}" type="presOf" srcId="{E49750BE-F2AD-4394-BA64-04E4E048E93D}" destId="{131B569B-B4A3-4637-A382-F8F91BD51894}" srcOrd="0" destOrd="0" presId="urn:microsoft.com/office/officeart/2005/8/layout/list1"/>
    <dgm:cxn modelId="{81E7AE07-C336-4EEA-96B9-51C6864DD9CD}" type="presOf" srcId="{E235E8F9-E177-465D-8956-2974C3A7B6D3}" destId="{1A036276-CA57-428F-8189-A24799BF348C}" srcOrd="1" destOrd="0" presId="urn:microsoft.com/office/officeart/2005/8/layout/list1"/>
    <dgm:cxn modelId="{F1D9C31A-926E-431C-8AC8-88176B4D1AB0}" srcId="{0D34C227-19FE-4B07-BEDE-77FEBD6E8431}" destId="{E235E8F9-E177-465D-8956-2974C3A7B6D3}" srcOrd="8" destOrd="0" parTransId="{398061D8-6BB3-4948-A48F-6B0B815183A6}" sibTransId="{299DD738-32D9-419D-A0F3-0BFDEFC16287}"/>
    <dgm:cxn modelId="{59B46220-FB0F-4F88-AF0E-3572668AC7D7}" type="presOf" srcId="{0FB8C8F0-0E50-4010-AFBC-5E9D0AF2AE74}" destId="{4F807CDF-BF90-4398-BCED-96157E3D4896}" srcOrd="1" destOrd="0" presId="urn:microsoft.com/office/officeart/2005/8/layout/list1"/>
    <dgm:cxn modelId="{EA515E29-C48F-44F5-86CD-FD8F409805E7}" srcId="{0D34C227-19FE-4B07-BEDE-77FEBD6E8431}" destId="{A85C1D55-7851-429E-B607-AB31D9A0680D}" srcOrd="4" destOrd="0" parTransId="{33B95F11-58CE-4891-8CAA-D0648A5356C2}" sibTransId="{AC3371B3-C8C3-465D-8D32-91E866AD482C}"/>
    <dgm:cxn modelId="{E98E6132-6C40-4AEA-84F3-1C356831C170}" srcId="{0D34C227-19FE-4B07-BEDE-77FEBD6E8431}" destId="{B7262CC2-99A2-4C8A-A509-5E0D1352D7C6}" srcOrd="5" destOrd="0" parTransId="{781B7FA9-76A1-45AB-8CAC-CED6B582D95A}" sibTransId="{C4BACEF5-9DBE-4A51-A6C8-E66F2270F3ED}"/>
    <dgm:cxn modelId="{CCEF1638-5F57-413B-A2AE-667471C5EA83}" type="presOf" srcId="{8EFEA5CD-25DB-409D-BEB3-6A145FCC3861}" destId="{06B74643-A986-4CFE-9748-FF088008C4D8}" srcOrd="1" destOrd="0" presId="urn:microsoft.com/office/officeart/2005/8/layout/list1"/>
    <dgm:cxn modelId="{9158BB44-F6C4-417C-BD5D-1502DC642A42}" type="presOf" srcId="{8EFEA5CD-25DB-409D-BEB3-6A145FCC3861}" destId="{2601EE8E-BA71-4DA1-A03A-8F87E966170B}" srcOrd="0" destOrd="0" presId="urn:microsoft.com/office/officeart/2005/8/layout/list1"/>
    <dgm:cxn modelId="{D3435B45-B93D-42A5-A133-8328BEAEAC73}" type="presOf" srcId="{E49750BE-F2AD-4394-BA64-04E4E048E93D}" destId="{7278BD0D-886B-4477-BC96-C3305D2E7F43}" srcOrd="1" destOrd="0" presId="urn:microsoft.com/office/officeart/2005/8/layout/list1"/>
    <dgm:cxn modelId="{AF795E45-42D8-4110-AE49-F063A1049058}" type="presOf" srcId="{AEF22A9A-4752-4252-B195-06A078122CC7}" destId="{75A93B9D-4BA5-4F43-97BE-908A73D4CCA6}" srcOrd="0" destOrd="0" presId="urn:microsoft.com/office/officeart/2005/8/layout/list1"/>
    <dgm:cxn modelId="{6764606B-14B7-4CB9-9A85-0FDD91D3BD7F}" type="presOf" srcId="{B7262CC2-99A2-4C8A-A509-5E0D1352D7C6}" destId="{2D012D12-2CCD-448B-9A32-8C3718E0783C}" srcOrd="1" destOrd="0" presId="urn:microsoft.com/office/officeart/2005/8/layout/list1"/>
    <dgm:cxn modelId="{7965414D-3938-40BF-9FBC-099339FEB6E3}" type="presOf" srcId="{A9A9B596-CCDB-414A-847A-597FD3D8667E}" destId="{05351289-2531-48E4-AE14-1F1ACD914E4B}" srcOrd="1" destOrd="0" presId="urn:microsoft.com/office/officeart/2005/8/layout/list1"/>
    <dgm:cxn modelId="{E957426D-CDAD-4909-B454-97FBD1306881}" type="presOf" srcId="{AEF22A9A-4752-4252-B195-06A078122CC7}" destId="{1AB74EC6-5E0C-4D27-8AF1-C8551D8C4983}" srcOrd="1" destOrd="0" presId="urn:microsoft.com/office/officeart/2005/8/layout/list1"/>
    <dgm:cxn modelId="{3688674D-C975-4D0E-8CD1-A18B231193C5}" type="presOf" srcId="{0FB8C8F0-0E50-4010-AFBC-5E9D0AF2AE74}" destId="{C8280F56-D0B3-45AF-91B7-8928246B0B8E}" srcOrd="0" destOrd="0" presId="urn:microsoft.com/office/officeart/2005/8/layout/list1"/>
    <dgm:cxn modelId="{D730967A-7959-4991-8DCE-CF31204260B0}" type="presOf" srcId="{A85C1D55-7851-429E-B607-AB31D9A0680D}" destId="{59067B05-6B4B-4D19-B5E3-1472B8F42043}" srcOrd="0" destOrd="0" presId="urn:microsoft.com/office/officeart/2005/8/layout/list1"/>
    <dgm:cxn modelId="{CF153086-2B98-4DE2-B7AA-A8365F512DBD}" type="presOf" srcId="{E235E8F9-E177-465D-8956-2974C3A7B6D3}" destId="{568E8229-19EE-46E8-9388-845942AF53DB}" srcOrd="0" destOrd="0" presId="urn:microsoft.com/office/officeart/2005/8/layout/list1"/>
    <dgm:cxn modelId="{FA37CA86-75FF-40BD-B8E4-316706C08884}" srcId="{0D34C227-19FE-4B07-BEDE-77FEBD6E8431}" destId="{8EFEA5CD-25DB-409D-BEB3-6A145FCC3861}" srcOrd="2" destOrd="0" parTransId="{9E714065-6B3A-4414-950A-607FCE265E64}" sibTransId="{998598C1-4EA8-4D1B-B83A-31135594E35D}"/>
    <dgm:cxn modelId="{B11CE487-F7AD-4E29-9042-43AC485152F7}" srcId="{0D34C227-19FE-4B07-BEDE-77FEBD6E8431}" destId="{AEF22A9A-4752-4252-B195-06A078122CC7}" srcOrd="3" destOrd="0" parTransId="{B7F73303-0BB0-4988-B6E5-53614416A4CE}" sibTransId="{C9C69B67-AA91-4D91-ADAC-CE5675E44323}"/>
    <dgm:cxn modelId="{8522EC88-DD08-4795-AA7F-2D22978BAE60}" type="presOf" srcId="{A85C1D55-7851-429E-B607-AB31D9A0680D}" destId="{6B0D72B8-E5CC-4CDE-A69A-C442B9B87F97}" srcOrd="1" destOrd="0" presId="urn:microsoft.com/office/officeart/2005/8/layout/list1"/>
    <dgm:cxn modelId="{3D44A78C-753F-48A5-9E2F-3E0FF729B8EF}" srcId="{0D34C227-19FE-4B07-BEDE-77FEBD6E8431}" destId="{E49750BE-F2AD-4394-BA64-04E4E048E93D}" srcOrd="7" destOrd="0" parTransId="{496102FF-EA33-47A5-A7D2-300FD284025E}" sibTransId="{9EE06516-06DC-423A-A5B1-5779879F15B5}"/>
    <dgm:cxn modelId="{028E5390-6CD9-4B37-B5DA-27BBD2EF01B6}" srcId="{0D34C227-19FE-4B07-BEDE-77FEBD6E8431}" destId="{A9A9B596-CCDB-414A-847A-597FD3D8667E}" srcOrd="0" destOrd="0" parTransId="{5F5674DD-B863-4709-88C0-C5188F996921}" sibTransId="{E6B53E12-4EF5-483F-B6DB-9E16F00ADC96}"/>
    <dgm:cxn modelId="{E74278AD-D3A4-427E-BB27-83439AC3AEC2}" type="presOf" srcId="{8EDB8782-24B2-4C7D-9EB9-750DD4EF57F9}" destId="{2DE5F94A-2796-4C47-80D1-A1BDA85ECB1D}" srcOrd="1" destOrd="0" presId="urn:microsoft.com/office/officeart/2005/8/layout/list1"/>
    <dgm:cxn modelId="{69C055BC-CE1A-46E1-A7F0-1FE5ED709E3F}" srcId="{0D34C227-19FE-4B07-BEDE-77FEBD6E8431}" destId="{8EDB8782-24B2-4C7D-9EB9-750DD4EF57F9}" srcOrd="1" destOrd="0" parTransId="{72C83052-3688-4BE5-BC99-3A549BD4F77D}" sibTransId="{AC64D8C2-962C-4AC4-B29C-C60A7A060376}"/>
    <dgm:cxn modelId="{293D3FC4-4EFF-4CB7-85CB-6D8DA9131610}" srcId="{0D34C227-19FE-4B07-BEDE-77FEBD6E8431}" destId="{0FB8C8F0-0E50-4010-AFBC-5E9D0AF2AE74}" srcOrd="6" destOrd="0" parTransId="{D94694FC-E6AA-44D0-9062-BB1C3518EF0F}" sibTransId="{895C4FB9-BDE1-4A77-919B-52986B2911D1}"/>
    <dgm:cxn modelId="{56B1D3C6-AA4E-4360-8992-95946FF1D7C8}" type="presOf" srcId="{A9A9B596-CCDB-414A-847A-597FD3D8667E}" destId="{1228D355-6031-4B21-9E85-7EDA546D5B28}" srcOrd="0" destOrd="0" presId="urn:microsoft.com/office/officeart/2005/8/layout/list1"/>
    <dgm:cxn modelId="{7A8AA2CA-B348-4DF2-AE5B-C5E31A674FEB}" type="presOf" srcId="{8EDB8782-24B2-4C7D-9EB9-750DD4EF57F9}" destId="{5477BCB0-9FB1-43F2-A676-8194646BD438}" srcOrd="0" destOrd="0" presId="urn:microsoft.com/office/officeart/2005/8/layout/list1"/>
    <dgm:cxn modelId="{706BA8CE-F170-45F1-BF82-DF29E6379B08}" type="presOf" srcId="{B7262CC2-99A2-4C8A-A509-5E0D1352D7C6}" destId="{383D440D-917D-41C3-B65A-0FD3E5582DC8}" srcOrd="0" destOrd="0" presId="urn:microsoft.com/office/officeart/2005/8/layout/list1"/>
    <dgm:cxn modelId="{D03019D1-BE76-4C18-90C5-1F7D5E0DAEDC}" type="presOf" srcId="{0D34C227-19FE-4B07-BEDE-77FEBD6E8431}" destId="{C76318D0-926B-4108-83F6-05F9321E79CB}" srcOrd="0" destOrd="0" presId="urn:microsoft.com/office/officeart/2005/8/layout/list1"/>
    <dgm:cxn modelId="{4930DE61-E1DD-470B-BE2D-6078D74F20B6}" type="presParOf" srcId="{C76318D0-926B-4108-83F6-05F9321E79CB}" destId="{42A817D2-17ED-4187-814B-3282803842C3}" srcOrd="0" destOrd="0" presId="urn:microsoft.com/office/officeart/2005/8/layout/list1"/>
    <dgm:cxn modelId="{86788721-A146-4FF4-B942-3A25AE018B60}" type="presParOf" srcId="{42A817D2-17ED-4187-814B-3282803842C3}" destId="{1228D355-6031-4B21-9E85-7EDA546D5B28}" srcOrd="0" destOrd="0" presId="urn:microsoft.com/office/officeart/2005/8/layout/list1"/>
    <dgm:cxn modelId="{4BA45349-CC6C-4518-8616-CA6B398624CE}" type="presParOf" srcId="{42A817D2-17ED-4187-814B-3282803842C3}" destId="{05351289-2531-48E4-AE14-1F1ACD914E4B}" srcOrd="1" destOrd="0" presId="urn:microsoft.com/office/officeart/2005/8/layout/list1"/>
    <dgm:cxn modelId="{C8A9B30D-D4B3-4AE4-AC50-6CE509E71A4B}" type="presParOf" srcId="{C76318D0-926B-4108-83F6-05F9321E79CB}" destId="{85FAA2B4-D17C-48C3-8A00-E3BAAD058793}" srcOrd="1" destOrd="0" presId="urn:microsoft.com/office/officeart/2005/8/layout/list1"/>
    <dgm:cxn modelId="{84C082C1-6298-4D26-BC05-C3A47A1851D5}" type="presParOf" srcId="{C76318D0-926B-4108-83F6-05F9321E79CB}" destId="{7F8E4A54-E850-4685-8FCC-715E69F294CC}" srcOrd="2" destOrd="0" presId="urn:microsoft.com/office/officeart/2005/8/layout/list1"/>
    <dgm:cxn modelId="{F865E085-5A3A-428C-948A-211ED7A83D7C}" type="presParOf" srcId="{C76318D0-926B-4108-83F6-05F9321E79CB}" destId="{A4CC7962-F8D4-43BE-8D24-5416BC8A6598}" srcOrd="3" destOrd="0" presId="urn:microsoft.com/office/officeart/2005/8/layout/list1"/>
    <dgm:cxn modelId="{50DFF658-28EA-443A-9F0E-B19AA66E5D39}" type="presParOf" srcId="{C76318D0-926B-4108-83F6-05F9321E79CB}" destId="{3933E01B-7C04-444B-8135-8A85A821C8DA}" srcOrd="4" destOrd="0" presId="urn:microsoft.com/office/officeart/2005/8/layout/list1"/>
    <dgm:cxn modelId="{5DFA32A4-6B0D-4918-B245-0B14DAC08B9D}" type="presParOf" srcId="{3933E01B-7C04-444B-8135-8A85A821C8DA}" destId="{5477BCB0-9FB1-43F2-A676-8194646BD438}" srcOrd="0" destOrd="0" presId="urn:microsoft.com/office/officeart/2005/8/layout/list1"/>
    <dgm:cxn modelId="{5A1532AF-CA52-464E-86A9-AEBF525EC52F}" type="presParOf" srcId="{3933E01B-7C04-444B-8135-8A85A821C8DA}" destId="{2DE5F94A-2796-4C47-80D1-A1BDA85ECB1D}" srcOrd="1" destOrd="0" presId="urn:microsoft.com/office/officeart/2005/8/layout/list1"/>
    <dgm:cxn modelId="{AF026BEF-60F7-44B8-B5FE-E3C3B6A73EA0}" type="presParOf" srcId="{C76318D0-926B-4108-83F6-05F9321E79CB}" destId="{2BFB2814-85F7-4437-9A5C-63EC7198223C}" srcOrd="5" destOrd="0" presId="urn:microsoft.com/office/officeart/2005/8/layout/list1"/>
    <dgm:cxn modelId="{B8DB6761-A022-4E9C-9A21-4C2569AFF6E0}" type="presParOf" srcId="{C76318D0-926B-4108-83F6-05F9321E79CB}" destId="{AAB2EEC4-0C45-4B9B-A706-B06C24E16246}" srcOrd="6" destOrd="0" presId="urn:microsoft.com/office/officeart/2005/8/layout/list1"/>
    <dgm:cxn modelId="{028DB1CA-77A7-401A-87EE-8DFD0F6B8D59}" type="presParOf" srcId="{C76318D0-926B-4108-83F6-05F9321E79CB}" destId="{0DEAAB12-A7DA-4221-BE67-41449D9423B4}" srcOrd="7" destOrd="0" presId="urn:microsoft.com/office/officeart/2005/8/layout/list1"/>
    <dgm:cxn modelId="{9AC1839F-44DA-4283-8067-194EE3024655}" type="presParOf" srcId="{C76318D0-926B-4108-83F6-05F9321E79CB}" destId="{58C29DAE-A47B-45C3-89A2-9245CF689177}" srcOrd="8" destOrd="0" presId="urn:microsoft.com/office/officeart/2005/8/layout/list1"/>
    <dgm:cxn modelId="{5150091C-C83B-4307-9B2B-ABF243286322}" type="presParOf" srcId="{58C29DAE-A47B-45C3-89A2-9245CF689177}" destId="{2601EE8E-BA71-4DA1-A03A-8F87E966170B}" srcOrd="0" destOrd="0" presId="urn:microsoft.com/office/officeart/2005/8/layout/list1"/>
    <dgm:cxn modelId="{9F5A8E3C-921B-4EB9-AAA8-BE7502DBC4EF}" type="presParOf" srcId="{58C29DAE-A47B-45C3-89A2-9245CF689177}" destId="{06B74643-A986-4CFE-9748-FF088008C4D8}" srcOrd="1" destOrd="0" presId="urn:microsoft.com/office/officeart/2005/8/layout/list1"/>
    <dgm:cxn modelId="{472F3E42-4DA9-4A3C-AF7D-ABC18B8ADF99}" type="presParOf" srcId="{C76318D0-926B-4108-83F6-05F9321E79CB}" destId="{B043B13E-ED6B-44D3-9872-B911FA523674}" srcOrd="9" destOrd="0" presId="urn:microsoft.com/office/officeart/2005/8/layout/list1"/>
    <dgm:cxn modelId="{97DB79B3-A8C1-46EE-B144-EE36132697B9}" type="presParOf" srcId="{C76318D0-926B-4108-83F6-05F9321E79CB}" destId="{E4452302-C34F-45A8-BC4F-CCD4EA73382B}" srcOrd="10" destOrd="0" presId="urn:microsoft.com/office/officeart/2005/8/layout/list1"/>
    <dgm:cxn modelId="{6E2A0E8D-015C-4851-A7A9-5D7BB06E9824}" type="presParOf" srcId="{C76318D0-926B-4108-83F6-05F9321E79CB}" destId="{BCE8FF7D-7547-49A7-A181-22C17FF2E7B8}" srcOrd="11" destOrd="0" presId="urn:microsoft.com/office/officeart/2005/8/layout/list1"/>
    <dgm:cxn modelId="{15F2D1B5-2641-4CC2-BF64-5601EE6A0213}" type="presParOf" srcId="{C76318D0-926B-4108-83F6-05F9321E79CB}" destId="{402FCF9D-CDED-4A00-8FF7-7C1328EC443A}" srcOrd="12" destOrd="0" presId="urn:microsoft.com/office/officeart/2005/8/layout/list1"/>
    <dgm:cxn modelId="{48113F03-8043-46F0-B5A1-204554EC0108}" type="presParOf" srcId="{402FCF9D-CDED-4A00-8FF7-7C1328EC443A}" destId="{75A93B9D-4BA5-4F43-97BE-908A73D4CCA6}" srcOrd="0" destOrd="0" presId="urn:microsoft.com/office/officeart/2005/8/layout/list1"/>
    <dgm:cxn modelId="{DC4815F3-3E26-49D5-B375-10C7DDF39BB7}" type="presParOf" srcId="{402FCF9D-CDED-4A00-8FF7-7C1328EC443A}" destId="{1AB74EC6-5E0C-4D27-8AF1-C8551D8C4983}" srcOrd="1" destOrd="0" presId="urn:microsoft.com/office/officeart/2005/8/layout/list1"/>
    <dgm:cxn modelId="{A260B3A3-7F74-4647-9C84-A5168F587025}" type="presParOf" srcId="{C76318D0-926B-4108-83F6-05F9321E79CB}" destId="{91B83DA3-9E4D-4765-AA37-D26C1C51CBE7}" srcOrd="13" destOrd="0" presId="urn:microsoft.com/office/officeart/2005/8/layout/list1"/>
    <dgm:cxn modelId="{4B868FA2-2B3C-43E2-8154-2F2D1268B31C}" type="presParOf" srcId="{C76318D0-926B-4108-83F6-05F9321E79CB}" destId="{9BBDDE09-0B7C-4563-8D15-A7C80E1CB4B7}" srcOrd="14" destOrd="0" presId="urn:microsoft.com/office/officeart/2005/8/layout/list1"/>
    <dgm:cxn modelId="{DFEFAB91-3089-440B-8ADB-F80C9D15934F}" type="presParOf" srcId="{C76318D0-926B-4108-83F6-05F9321E79CB}" destId="{A3777142-382F-462A-A84C-343CA9BD57AD}" srcOrd="15" destOrd="0" presId="urn:microsoft.com/office/officeart/2005/8/layout/list1"/>
    <dgm:cxn modelId="{07BC289D-F706-44D8-8BD0-6FB07AEB6586}" type="presParOf" srcId="{C76318D0-926B-4108-83F6-05F9321E79CB}" destId="{38C5A66D-885D-410B-97CB-8C2D23650BAC}" srcOrd="16" destOrd="0" presId="urn:microsoft.com/office/officeart/2005/8/layout/list1"/>
    <dgm:cxn modelId="{8CE492EC-E682-4AFA-A35F-EC23269B8DDA}" type="presParOf" srcId="{38C5A66D-885D-410B-97CB-8C2D23650BAC}" destId="{59067B05-6B4B-4D19-B5E3-1472B8F42043}" srcOrd="0" destOrd="0" presId="urn:microsoft.com/office/officeart/2005/8/layout/list1"/>
    <dgm:cxn modelId="{F9D5BD14-DC46-4AB7-8AB8-009227CB4906}" type="presParOf" srcId="{38C5A66D-885D-410B-97CB-8C2D23650BAC}" destId="{6B0D72B8-E5CC-4CDE-A69A-C442B9B87F97}" srcOrd="1" destOrd="0" presId="urn:microsoft.com/office/officeart/2005/8/layout/list1"/>
    <dgm:cxn modelId="{593BD041-20E7-4D0A-B8EF-41B1B1BE3F07}" type="presParOf" srcId="{C76318D0-926B-4108-83F6-05F9321E79CB}" destId="{DCF5D094-D693-4E1D-B236-7E5141C59042}" srcOrd="17" destOrd="0" presId="urn:microsoft.com/office/officeart/2005/8/layout/list1"/>
    <dgm:cxn modelId="{83471723-DBE4-43CD-ADF8-5ADBF88E44CB}" type="presParOf" srcId="{C76318D0-926B-4108-83F6-05F9321E79CB}" destId="{5EA4FF51-6BEB-4170-92D7-BC0B0DFD3BB9}" srcOrd="18" destOrd="0" presId="urn:microsoft.com/office/officeart/2005/8/layout/list1"/>
    <dgm:cxn modelId="{88DA4836-D994-4611-A3EA-9A270FAE625E}" type="presParOf" srcId="{C76318D0-926B-4108-83F6-05F9321E79CB}" destId="{B981E1E9-DA09-417A-B452-F0A6CB1F2BE7}" srcOrd="19" destOrd="0" presId="urn:microsoft.com/office/officeart/2005/8/layout/list1"/>
    <dgm:cxn modelId="{5BEAA603-E4E7-4733-9ABE-44F18FAAD82F}" type="presParOf" srcId="{C76318D0-926B-4108-83F6-05F9321E79CB}" destId="{1966165E-AB4E-4AC3-BB3F-BAD951C4DA47}" srcOrd="20" destOrd="0" presId="urn:microsoft.com/office/officeart/2005/8/layout/list1"/>
    <dgm:cxn modelId="{A393DFAC-2E19-4A93-A1D0-16F47738EDD1}" type="presParOf" srcId="{1966165E-AB4E-4AC3-BB3F-BAD951C4DA47}" destId="{383D440D-917D-41C3-B65A-0FD3E5582DC8}" srcOrd="0" destOrd="0" presId="urn:microsoft.com/office/officeart/2005/8/layout/list1"/>
    <dgm:cxn modelId="{B5B5C106-A1FC-4377-8370-ACE8B12E4B74}" type="presParOf" srcId="{1966165E-AB4E-4AC3-BB3F-BAD951C4DA47}" destId="{2D012D12-2CCD-448B-9A32-8C3718E0783C}" srcOrd="1" destOrd="0" presId="urn:microsoft.com/office/officeart/2005/8/layout/list1"/>
    <dgm:cxn modelId="{4A68D399-AD92-4EBD-B40B-1F58E9392479}" type="presParOf" srcId="{C76318D0-926B-4108-83F6-05F9321E79CB}" destId="{F6FD8155-1F27-4711-A315-4F1DA39F011E}" srcOrd="21" destOrd="0" presId="urn:microsoft.com/office/officeart/2005/8/layout/list1"/>
    <dgm:cxn modelId="{B4EBF5F3-4531-40D9-B380-C8D7B8B144F1}" type="presParOf" srcId="{C76318D0-926B-4108-83F6-05F9321E79CB}" destId="{8D6E6607-3D0F-41B6-B006-07808306566C}" srcOrd="22" destOrd="0" presId="urn:microsoft.com/office/officeart/2005/8/layout/list1"/>
    <dgm:cxn modelId="{7AA5E31F-C4C7-4DFB-A41D-CAFD9E195AC0}" type="presParOf" srcId="{C76318D0-926B-4108-83F6-05F9321E79CB}" destId="{8C92F433-CCF8-458E-AE78-4B70BA18EA80}" srcOrd="23" destOrd="0" presId="urn:microsoft.com/office/officeart/2005/8/layout/list1"/>
    <dgm:cxn modelId="{731CCE05-A692-482F-BCD7-477A45E25FD0}" type="presParOf" srcId="{C76318D0-926B-4108-83F6-05F9321E79CB}" destId="{A94646F3-9EF0-4D8F-9C37-16AB972D2CD4}" srcOrd="24" destOrd="0" presId="urn:microsoft.com/office/officeart/2005/8/layout/list1"/>
    <dgm:cxn modelId="{CCBEDD2F-5DD2-4ECF-A631-FFCDD815CDCD}" type="presParOf" srcId="{A94646F3-9EF0-4D8F-9C37-16AB972D2CD4}" destId="{C8280F56-D0B3-45AF-91B7-8928246B0B8E}" srcOrd="0" destOrd="0" presId="urn:microsoft.com/office/officeart/2005/8/layout/list1"/>
    <dgm:cxn modelId="{BADB039E-DFA4-45EF-A7E4-5F31D432D24B}" type="presParOf" srcId="{A94646F3-9EF0-4D8F-9C37-16AB972D2CD4}" destId="{4F807CDF-BF90-4398-BCED-96157E3D4896}" srcOrd="1" destOrd="0" presId="urn:microsoft.com/office/officeart/2005/8/layout/list1"/>
    <dgm:cxn modelId="{BBD42937-DDB0-4366-8BF7-E7D35F7FB326}" type="presParOf" srcId="{C76318D0-926B-4108-83F6-05F9321E79CB}" destId="{4C4CF2A1-BDDD-4615-9A91-A9E07680EF43}" srcOrd="25" destOrd="0" presId="urn:microsoft.com/office/officeart/2005/8/layout/list1"/>
    <dgm:cxn modelId="{B1E59938-E5EF-4909-A766-A76832FB78F4}" type="presParOf" srcId="{C76318D0-926B-4108-83F6-05F9321E79CB}" destId="{ED24817E-0BB3-4CD8-9600-3E60D0F36AB4}" srcOrd="26" destOrd="0" presId="urn:microsoft.com/office/officeart/2005/8/layout/list1"/>
    <dgm:cxn modelId="{C30ED319-823C-45DD-BF03-516DCA165676}" type="presParOf" srcId="{C76318D0-926B-4108-83F6-05F9321E79CB}" destId="{99335B19-EA54-454F-8FE1-FEC4395B7818}" srcOrd="27" destOrd="0" presId="urn:microsoft.com/office/officeart/2005/8/layout/list1"/>
    <dgm:cxn modelId="{08A0109D-B833-4CB7-AE70-F75F1CB8B13E}" type="presParOf" srcId="{C76318D0-926B-4108-83F6-05F9321E79CB}" destId="{D13C0A8F-216A-4501-99F6-70894C697337}" srcOrd="28" destOrd="0" presId="urn:microsoft.com/office/officeart/2005/8/layout/list1"/>
    <dgm:cxn modelId="{5C0C7A2B-7FAB-4EA4-B2CB-9D395F629FD4}" type="presParOf" srcId="{D13C0A8F-216A-4501-99F6-70894C697337}" destId="{131B569B-B4A3-4637-A382-F8F91BD51894}" srcOrd="0" destOrd="0" presId="urn:microsoft.com/office/officeart/2005/8/layout/list1"/>
    <dgm:cxn modelId="{AED10F62-5588-426C-8C07-80A4BA111C00}" type="presParOf" srcId="{D13C0A8F-216A-4501-99F6-70894C697337}" destId="{7278BD0D-886B-4477-BC96-C3305D2E7F43}" srcOrd="1" destOrd="0" presId="urn:microsoft.com/office/officeart/2005/8/layout/list1"/>
    <dgm:cxn modelId="{676A5F18-1E2A-4CC8-A5C6-923201B1F87F}" type="presParOf" srcId="{C76318D0-926B-4108-83F6-05F9321E79CB}" destId="{875D706B-0933-4679-9D36-557A0C451556}" srcOrd="29" destOrd="0" presId="urn:microsoft.com/office/officeart/2005/8/layout/list1"/>
    <dgm:cxn modelId="{76308AEA-9C22-4645-8F36-329FC6085330}" type="presParOf" srcId="{C76318D0-926B-4108-83F6-05F9321E79CB}" destId="{B9BECDF4-76EE-4DB0-AF46-D6D55ACA149F}" srcOrd="30" destOrd="0" presId="urn:microsoft.com/office/officeart/2005/8/layout/list1"/>
    <dgm:cxn modelId="{2A6F0B2F-3626-46D3-BD25-57759BD6D7E9}" type="presParOf" srcId="{C76318D0-926B-4108-83F6-05F9321E79CB}" destId="{8D4783AE-C840-497D-92CF-BCB847B8AC4B}" srcOrd="31" destOrd="0" presId="urn:microsoft.com/office/officeart/2005/8/layout/list1"/>
    <dgm:cxn modelId="{8D5C8FE2-17CF-49FF-A243-1E942295C6A7}" type="presParOf" srcId="{C76318D0-926B-4108-83F6-05F9321E79CB}" destId="{33F441BB-15CC-4DF5-B465-EAF5D75534EB}" srcOrd="32" destOrd="0" presId="urn:microsoft.com/office/officeart/2005/8/layout/list1"/>
    <dgm:cxn modelId="{625A47F9-C5C8-4EF8-B179-7ED1551187A4}" type="presParOf" srcId="{33F441BB-15CC-4DF5-B465-EAF5D75534EB}" destId="{568E8229-19EE-46E8-9388-845942AF53DB}" srcOrd="0" destOrd="0" presId="urn:microsoft.com/office/officeart/2005/8/layout/list1"/>
    <dgm:cxn modelId="{CE83BB11-D664-485C-9E11-687A005C1D38}" type="presParOf" srcId="{33F441BB-15CC-4DF5-B465-EAF5D75534EB}" destId="{1A036276-CA57-428F-8189-A24799BF348C}" srcOrd="1" destOrd="0" presId="urn:microsoft.com/office/officeart/2005/8/layout/list1"/>
    <dgm:cxn modelId="{176485A4-056C-4225-B190-9D9E72876565}" type="presParOf" srcId="{C76318D0-926B-4108-83F6-05F9321E79CB}" destId="{4D00C82C-C1B0-4DAD-BBF8-0CF3CEA9B6BB}" srcOrd="33" destOrd="0" presId="urn:microsoft.com/office/officeart/2005/8/layout/list1"/>
    <dgm:cxn modelId="{762F3B02-B72C-426E-9E12-EB721300B5C1}" type="presParOf" srcId="{C76318D0-926B-4108-83F6-05F9321E79CB}" destId="{F5189E3C-D602-4397-B1A0-31F3A7481B42}" srcOrd="34"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BB54BDF-2C50-48D8-A801-4EC929D83757}"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9F8571EE-5FD9-4DB9-8A9F-BCD5A38D1886}">
      <dgm:prSet/>
      <dgm:spPr/>
      <dgm:t>
        <a:bodyPr/>
        <a:lstStyle/>
        <a:p>
          <a:r>
            <a:rPr lang="fr-FR"/>
            <a:t>Qualité des données </a:t>
          </a:r>
          <a:endParaRPr lang="en-US"/>
        </a:p>
      </dgm:t>
    </dgm:pt>
    <dgm:pt modelId="{EB624983-5A81-4EB8-B3FD-535370F25975}" type="parTrans" cxnId="{E3E2FFE7-A1FE-497C-BF22-E64F928672B8}">
      <dgm:prSet/>
      <dgm:spPr/>
      <dgm:t>
        <a:bodyPr/>
        <a:lstStyle/>
        <a:p>
          <a:endParaRPr lang="en-US"/>
        </a:p>
      </dgm:t>
    </dgm:pt>
    <dgm:pt modelId="{FAAB23CC-E8CA-408A-9D3A-767EE969CEED}" type="sibTrans" cxnId="{E3E2FFE7-A1FE-497C-BF22-E64F928672B8}">
      <dgm:prSet/>
      <dgm:spPr/>
      <dgm:t>
        <a:bodyPr/>
        <a:lstStyle/>
        <a:p>
          <a:endParaRPr lang="en-US"/>
        </a:p>
      </dgm:t>
    </dgm:pt>
    <dgm:pt modelId="{AB2AFB50-C7FB-487E-873D-A4227AA1D540}">
      <dgm:prSet/>
      <dgm:spPr/>
      <dgm:t>
        <a:bodyPr/>
        <a:lstStyle/>
        <a:p>
          <a:r>
            <a:rPr lang="fr-FR"/>
            <a:t>Performances volatiles</a:t>
          </a:r>
          <a:endParaRPr lang="en-US"/>
        </a:p>
      </dgm:t>
    </dgm:pt>
    <dgm:pt modelId="{C802649F-A2A2-4177-AEE5-12DB41E06539}" type="parTrans" cxnId="{A9CEE2D8-92AE-4E37-B427-4C68376845DD}">
      <dgm:prSet/>
      <dgm:spPr/>
      <dgm:t>
        <a:bodyPr/>
        <a:lstStyle/>
        <a:p>
          <a:endParaRPr lang="en-US"/>
        </a:p>
      </dgm:t>
    </dgm:pt>
    <dgm:pt modelId="{DD410B36-41C3-4789-8775-5368CEEE4A7E}" type="sibTrans" cxnId="{A9CEE2D8-92AE-4E37-B427-4C68376845DD}">
      <dgm:prSet/>
      <dgm:spPr/>
      <dgm:t>
        <a:bodyPr/>
        <a:lstStyle/>
        <a:p>
          <a:endParaRPr lang="en-US"/>
        </a:p>
      </dgm:t>
    </dgm:pt>
    <dgm:pt modelId="{CE1B9AD7-2DA0-4919-9E3A-B567BC309A4A}" type="pres">
      <dgm:prSet presAssocID="{5BB54BDF-2C50-48D8-A801-4EC929D83757}" presName="root" presStyleCnt="0">
        <dgm:presLayoutVars>
          <dgm:dir/>
          <dgm:resizeHandles val="exact"/>
        </dgm:presLayoutVars>
      </dgm:prSet>
      <dgm:spPr/>
    </dgm:pt>
    <dgm:pt modelId="{4FBF30C8-F7BD-4896-8DA1-0D6FCD4AED8B}" type="pres">
      <dgm:prSet presAssocID="{9F8571EE-5FD9-4DB9-8A9F-BCD5A38D1886}" presName="compNode" presStyleCnt="0"/>
      <dgm:spPr/>
    </dgm:pt>
    <dgm:pt modelId="{D9052245-5E01-4381-B289-18AE78CFFE21}" type="pres">
      <dgm:prSet presAssocID="{9F8571EE-5FD9-4DB9-8A9F-BCD5A38D1886}"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r chart"/>
        </a:ext>
      </dgm:extLst>
    </dgm:pt>
    <dgm:pt modelId="{0548AC38-0C48-4907-9F68-729D118580DB}" type="pres">
      <dgm:prSet presAssocID="{9F8571EE-5FD9-4DB9-8A9F-BCD5A38D1886}" presName="spaceRect" presStyleCnt="0"/>
      <dgm:spPr/>
    </dgm:pt>
    <dgm:pt modelId="{8143E760-F2D9-4C49-BBC6-7180FFE62F19}" type="pres">
      <dgm:prSet presAssocID="{9F8571EE-5FD9-4DB9-8A9F-BCD5A38D1886}" presName="textRect" presStyleLbl="revTx" presStyleIdx="0" presStyleCnt="2">
        <dgm:presLayoutVars>
          <dgm:chMax val="1"/>
          <dgm:chPref val="1"/>
        </dgm:presLayoutVars>
      </dgm:prSet>
      <dgm:spPr/>
    </dgm:pt>
    <dgm:pt modelId="{9855D60D-BB07-4F3D-904A-224099148093}" type="pres">
      <dgm:prSet presAssocID="{FAAB23CC-E8CA-408A-9D3A-767EE969CEED}" presName="sibTrans" presStyleCnt="0"/>
      <dgm:spPr/>
    </dgm:pt>
    <dgm:pt modelId="{7BBFEC1D-72DC-4218-A59B-42B0985F064B}" type="pres">
      <dgm:prSet presAssocID="{AB2AFB50-C7FB-487E-873D-A4227AA1D540}" presName="compNode" presStyleCnt="0"/>
      <dgm:spPr/>
    </dgm:pt>
    <dgm:pt modelId="{584012A5-871D-42A9-A962-C1E83EF42BD2}" type="pres">
      <dgm:prSet presAssocID="{AB2AFB50-C7FB-487E-873D-A4227AA1D54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Jauge"/>
        </a:ext>
      </dgm:extLst>
    </dgm:pt>
    <dgm:pt modelId="{489CE535-242B-4371-90A9-B83AC5CC4A51}" type="pres">
      <dgm:prSet presAssocID="{AB2AFB50-C7FB-487E-873D-A4227AA1D540}" presName="spaceRect" presStyleCnt="0"/>
      <dgm:spPr/>
    </dgm:pt>
    <dgm:pt modelId="{1BD09F5C-BD75-4008-B207-94029CB0AB7B}" type="pres">
      <dgm:prSet presAssocID="{AB2AFB50-C7FB-487E-873D-A4227AA1D540}" presName="textRect" presStyleLbl="revTx" presStyleIdx="1" presStyleCnt="2">
        <dgm:presLayoutVars>
          <dgm:chMax val="1"/>
          <dgm:chPref val="1"/>
        </dgm:presLayoutVars>
      </dgm:prSet>
      <dgm:spPr/>
    </dgm:pt>
  </dgm:ptLst>
  <dgm:cxnLst>
    <dgm:cxn modelId="{89C39F2C-DB11-4225-A0A6-FB934C48EB0C}" type="presOf" srcId="{9F8571EE-5FD9-4DB9-8A9F-BCD5A38D1886}" destId="{8143E760-F2D9-4C49-BBC6-7180FFE62F19}" srcOrd="0" destOrd="0" presId="urn:microsoft.com/office/officeart/2018/2/layout/IconLabelList"/>
    <dgm:cxn modelId="{DCADDBA7-93E0-4FB5-B70A-8CADD1395895}" type="presOf" srcId="{5BB54BDF-2C50-48D8-A801-4EC929D83757}" destId="{CE1B9AD7-2DA0-4919-9E3A-B567BC309A4A}" srcOrd="0" destOrd="0" presId="urn:microsoft.com/office/officeart/2018/2/layout/IconLabelList"/>
    <dgm:cxn modelId="{232E5ED7-034D-4F27-B311-78AA64A1570E}" type="presOf" srcId="{AB2AFB50-C7FB-487E-873D-A4227AA1D540}" destId="{1BD09F5C-BD75-4008-B207-94029CB0AB7B}" srcOrd="0" destOrd="0" presId="urn:microsoft.com/office/officeart/2018/2/layout/IconLabelList"/>
    <dgm:cxn modelId="{A9CEE2D8-92AE-4E37-B427-4C68376845DD}" srcId="{5BB54BDF-2C50-48D8-A801-4EC929D83757}" destId="{AB2AFB50-C7FB-487E-873D-A4227AA1D540}" srcOrd="1" destOrd="0" parTransId="{C802649F-A2A2-4177-AEE5-12DB41E06539}" sibTransId="{DD410B36-41C3-4789-8775-5368CEEE4A7E}"/>
    <dgm:cxn modelId="{E3E2FFE7-A1FE-497C-BF22-E64F928672B8}" srcId="{5BB54BDF-2C50-48D8-A801-4EC929D83757}" destId="{9F8571EE-5FD9-4DB9-8A9F-BCD5A38D1886}" srcOrd="0" destOrd="0" parTransId="{EB624983-5A81-4EB8-B3FD-535370F25975}" sibTransId="{FAAB23CC-E8CA-408A-9D3A-767EE969CEED}"/>
    <dgm:cxn modelId="{D56B8894-9087-4DA9-9916-E6C785751662}" type="presParOf" srcId="{CE1B9AD7-2DA0-4919-9E3A-B567BC309A4A}" destId="{4FBF30C8-F7BD-4896-8DA1-0D6FCD4AED8B}" srcOrd="0" destOrd="0" presId="urn:microsoft.com/office/officeart/2018/2/layout/IconLabelList"/>
    <dgm:cxn modelId="{84AA265D-266A-4C74-98F5-4CE74BDDA397}" type="presParOf" srcId="{4FBF30C8-F7BD-4896-8DA1-0D6FCD4AED8B}" destId="{D9052245-5E01-4381-B289-18AE78CFFE21}" srcOrd="0" destOrd="0" presId="urn:microsoft.com/office/officeart/2018/2/layout/IconLabelList"/>
    <dgm:cxn modelId="{D4A39877-3DEA-4C12-A2AE-2FE74068822D}" type="presParOf" srcId="{4FBF30C8-F7BD-4896-8DA1-0D6FCD4AED8B}" destId="{0548AC38-0C48-4907-9F68-729D118580DB}" srcOrd="1" destOrd="0" presId="urn:microsoft.com/office/officeart/2018/2/layout/IconLabelList"/>
    <dgm:cxn modelId="{880C6071-8F0E-4479-A9D8-BF1E1B046899}" type="presParOf" srcId="{4FBF30C8-F7BD-4896-8DA1-0D6FCD4AED8B}" destId="{8143E760-F2D9-4C49-BBC6-7180FFE62F19}" srcOrd="2" destOrd="0" presId="urn:microsoft.com/office/officeart/2018/2/layout/IconLabelList"/>
    <dgm:cxn modelId="{BCBAA62D-2F76-4CF4-9972-2CDCB3B54A8E}" type="presParOf" srcId="{CE1B9AD7-2DA0-4919-9E3A-B567BC309A4A}" destId="{9855D60D-BB07-4F3D-904A-224099148093}" srcOrd="1" destOrd="0" presId="urn:microsoft.com/office/officeart/2018/2/layout/IconLabelList"/>
    <dgm:cxn modelId="{3AED055B-CCD3-464C-834D-FEC02942E85C}" type="presParOf" srcId="{CE1B9AD7-2DA0-4919-9E3A-B567BC309A4A}" destId="{7BBFEC1D-72DC-4218-A59B-42B0985F064B}" srcOrd="2" destOrd="0" presId="urn:microsoft.com/office/officeart/2018/2/layout/IconLabelList"/>
    <dgm:cxn modelId="{357EC659-C8F7-4F96-A921-5E4CC2BF3E87}" type="presParOf" srcId="{7BBFEC1D-72DC-4218-A59B-42B0985F064B}" destId="{584012A5-871D-42A9-A962-C1E83EF42BD2}" srcOrd="0" destOrd="0" presId="urn:microsoft.com/office/officeart/2018/2/layout/IconLabelList"/>
    <dgm:cxn modelId="{3FC2B83A-A0FA-42EF-BA3A-C965A507619C}" type="presParOf" srcId="{7BBFEC1D-72DC-4218-A59B-42B0985F064B}" destId="{489CE535-242B-4371-90A9-B83AC5CC4A51}" srcOrd="1" destOrd="0" presId="urn:microsoft.com/office/officeart/2018/2/layout/IconLabelList"/>
    <dgm:cxn modelId="{2828FD25-2E5F-4A26-996C-A4049D656BE0}" type="presParOf" srcId="{7BBFEC1D-72DC-4218-A59B-42B0985F064B}" destId="{1BD09F5C-BD75-4008-B207-94029CB0AB7B}"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8E4A54-E850-4685-8FCC-715E69F294CC}">
      <dsp:nvSpPr>
        <dsp:cNvPr id="0" name=""/>
        <dsp:cNvSpPr/>
      </dsp:nvSpPr>
      <dsp:spPr>
        <a:xfrm>
          <a:off x="0" y="30038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5351289-2531-48E4-AE14-1F1ACD914E4B}">
      <dsp:nvSpPr>
        <dsp:cNvPr id="0" name=""/>
        <dsp:cNvSpPr/>
      </dsp:nvSpPr>
      <dsp:spPr>
        <a:xfrm>
          <a:off x="333341" y="10850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a:t>Jeu initial</a:t>
          </a:r>
          <a:endParaRPr lang="en-US" sz="1300" kern="1200" dirty="0"/>
        </a:p>
      </dsp:txBody>
      <dsp:txXfrm>
        <a:off x="352075" y="127234"/>
        <a:ext cx="4629315" cy="346292"/>
      </dsp:txXfrm>
    </dsp:sp>
    <dsp:sp modelId="{AAB2EEC4-0C45-4B9B-A706-B06C24E16246}">
      <dsp:nvSpPr>
        <dsp:cNvPr id="0" name=""/>
        <dsp:cNvSpPr/>
      </dsp:nvSpPr>
      <dsp:spPr>
        <a:xfrm>
          <a:off x="0" y="89006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DE5F94A-2796-4C47-80D1-A1BDA85ECB1D}">
      <dsp:nvSpPr>
        <dsp:cNvPr id="0" name=""/>
        <dsp:cNvSpPr/>
      </dsp:nvSpPr>
      <dsp:spPr>
        <a:xfrm>
          <a:off x="333341" y="69818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a:t>Nettoyage et analyse</a:t>
          </a:r>
          <a:endParaRPr lang="en-US" sz="1300" kern="1200" dirty="0"/>
        </a:p>
      </dsp:txBody>
      <dsp:txXfrm>
        <a:off x="352075" y="716914"/>
        <a:ext cx="4629315" cy="346292"/>
      </dsp:txXfrm>
    </dsp:sp>
    <dsp:sp modelId="{E4452302-C34F-45A8-BC4F-CCD4EA73382B}">
      <dsp:nvSpPr>
        <dsp:cNvPr id="0" name=""/>
        <dsp:cNvSpPr/>
      </dsp:nvSpPr>
      <dsp:spPr>
        <a:xfrm>
          <a:off x="0" y="147974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06B74643-A986-4CFE-9748-FF088008C4D8}">
      <dsp:nvSpPr>
        <dsp:cNvPr id="0" name=""/>
        <dsp:cNvSpPr/>
      </dsp:nvSpPr>
      <dsp:spPr>
        <a:xfrm>
          <a:off x="333341" y="128786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err="1"/>
            <a:t>Feature</a:t>
          </a:r>
          <a:r>
            <a:rPr lang="fr-FR" sz="1300" kern="1200" dirty="0"/>
            <a:t> Engineering</a:t>
          </a:r>
          <a:endParaRPr lang="en-US" sz="1300" kern="1200" dirty="0"/>
        </a:p>
      </dsp:txBody>
      <dsp:txXfrm>
        <a:off x="352075" y="1306594"/>
        <a:ext cx="4629315" cy="346292"/>
      </dsp:txXfrm>
    </dsp:sp>
    <dsp:sp modelId="{9BBDDE09-0B7C-4563-8D15-A7C80E1CB4B7}">
      <dsp:nvSpPr>
        <dsp:cNvPr id="0" name=""/>
        <dsp:cNvSpPr/>
      </dsp:nvSpPr>
      <dsp:spPr>
        <a:xfrm>
          <a:off x="0" y="206942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AB74EC6-5E0C-4D27-8AF1-C8551D8C4983}">
      <dsp:nvSpPr>
        <dsp:cNvPr id="0" name=""/>
        <dsp:cNvSpPr/>
      </dsp:nvSpPr>
      <dsp:spPr>
        <a:xfrm>
          <a:off x="333341" y="187754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err="1"/>
            <a:t>Preprocessing</a:t>
          </a:r>
          <a:r>
            <a:rPr lang="fr-FR" sz="1300" kern="1200" dirty="0"/>
            <a:t> </a:t>
          </a:r>
          <a:endParaRPr lang="en-US" sz="1300" kern="1200" dirty="0"/>
        </a:p>
      </dsp:txBody>
      <dsp:txXfrm>
        <a:off x="352075" y="1896274"/>
        <a:ext cx="4629315" cy="346292"/>
      </dsp:txXfrm>
    </dsp:sp>
    <dsp:sp modelId="{5EA4FF51-6BEB-4170-92D7-BC0B0DFD3BB9}">
      <dsp:nvSpPr>
        <dsp:cNvPr id="0" name=""/>
        <dsp:cNvSpPr/>
      </dsp:nvSpPr>
      <dsp:spPr>
        <a:xfrm>
          <a:off x="0" y="265910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B0D72B8-E5CC-4CDE-A69A-C442B9B87F97}">
      <dsp:nvSpPr>
        <dsp:cNvPr id="0" name=""/>
        <dsp:cNvSpPr/>
      </dsp:nvSpPr>
      <dsp:spPr>
        <a:xfrm>
          <a:off x="333341" y="246722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a:t>Modèles : aperçu</a:t>
          </a:r>
          <a:endParaRPr lang="en-US" sz="1300" kern="1200" dirty="0"/>
        </a:p>
      </dsp:txBody>
      <dsp:txXfrm>
        <a:off x="352075" y="2485954"/>
        <a:ext cx="4629315" cy="346292"/>
      </dsp:txXfrm>
    </dsp:sp>
    <dsp:sp modelId="{8D6E6607-3D0F-41B6-B006-07808306566C}">
      <dsp:nvSpPr>
        <dsp:cNvPr id="0" name=""/>
        <dsp:cNvSpPr/>
      </dsp:nvSpPr>
      <dsp:spPr>
        <a:xfrm>
          <a:off x="0" y="324878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2D012D12-2CCD-448B-9A32-8C3718E0783C}">
      <dsp:nvSpPr>
        <dsp:cNvPr id="0" name=""/>
        <dsp:cNvSpPr/>
      </dsp:nvSpPr>
      <dsp:spPr>
        <a:xfrm>
          <a:off x="333341" y="305690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kern="1200" dirty="0" err="1"/>
            <a:t>Modèles</a:t>
          </a:r>
          <a:r>
            <a:rPr lang="en-US" sz="1300" kern="1200" dirty="0"/>
            <a:t> : </a:t>
          </a:r>
          <a:r>
            <a:rPr lang="en-US" sz="1300" kern="1200" dirty="0" err="1"/>
            <a:t>amélioration</a:t>
          </a:r>
          <a:endParaRPr lang="en-US" sz="1300" kern="1200" dirty="0"/>
        </a:p>
      </dsp:txBody>
      <dsp:txXfrm>
        <a:off x="352075" y="3075634"/>
        <a:ext cx="4629315" cy="346292"/>
      </dsp:txXfrm>
    </dsp:sp>
    <dsp:sp modelId="{ED24817E-0BB3-4CD8-9600-3E60D0F36AB4}">
      <dsp:nvSpPr>
        <dsp:cNvPr id="0" name=""/>
        <dsp:cNvSpPr/>
      </dsp:nvSpPr>
      <dsp:spPr>
        <a:xfrm>
          <a:off x="0" y="383846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4F807CDF-BF90-4398-BCED-96157E3D4896}">
      <dsp:nvSpPr>
        <dsp:cNvPr id="0" name=""/>
        <dsp:cNvSpPr/>
      </dsp:nvSpPr>
      <dsp:spPr>
        <a:xfrm>
          <a:off x="333341" y="364658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fr-FR" sz="1300" kern="1200" dirty="0"/>
            <a:t>Analyse finale</a:t>
          </a:r>
          <a:endParaRPr lang="en-US" sz="1300" kern="1200" dirty="0"/>
        </a:p>
      </dsp:txBody>
      <dsp:txXfrm>
        <a:off x="352075" y="3665314"/>
        <a:ext cx="4629315" cy="346292"/>
      </dsp:txXfrm>
    </dsp:sp>
    <dsp:sp modelId="{B9BECDF4-76EE-4DB0-AF46-D6D55ACA149F}">
      <dsp:nvSpPr>
        <dsp:cNvPr id="0" name=""/>
        <dsp:cNvSpPr/>
      </dsp:nvSpPr>
      <dsp:spPr>
        <a:xfrm>
          <a:off x="0" y="4428140"/>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7278BD0D-886B-4477-BC96-C3305D2E7F43}">
      <dsp:nvSpPr>
        <dsp:cNvPr id="0" name=""/>
        <dsp:cNvSpPr/>
      </dsp:nvSpPr>
      <dsp:spPr>
        <a:xfrm>
          <a:off x="333341" y="4236260"/>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kern="1200" dirty="0" err="1"/>
            <a:t>Energyscore</a:t>
          </a:r>
          <a:endParaRPr lang="en-US" sz="1300" kern="1200" dirty="0"/>
        </a:p>
      </dsp:txBody>
      <dsp:txXfrm>
        <a:off x="352075" y="4254994"/>
        <a:ext cx="4629315" cy="346292"/>
      </dsp:txXfrm>
    </dsp:sp>
    <dsp:sp modelId="{F5189E3C-D602-4397-B1A0-31F3A7481B42}">
      <dsp:nvSpPr>
        <dsp:cNvPr id="0" name=""/>
        <dsp:cNvSpPr/>
      </dsp:nvSpPr>
      <dsp:spPr>
        <a:xfrm>
          <a:off x="0" y="5017819"/>
          <a:ext cx="6666833"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1A036276-CA57-428F-8189-A24799BF348C}">
      <dsp:nvSpPr>
        <dsp:cNvPr id="0" name=""/>
        <dsp:cNvSpPr/>
      </dsp:nvSpPr>
      <dsp:spPr>
        <a:xfrm>
          <a:off x="333341" y="4825939"/>
          <a:ext cx="4666783" cy="383760"/>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76393" tIns="0" rIns="176393" bIns="0" numCol="1" spcCol="1270" anchor="ctr" anchorCtr="0">
          <a:noAutofit/>
        </a:bodyPr>
        <a:lstStyle/>
        <a:p>
          <a:pPr marL="0" lvl="0" indent="0" algn="l" defTabSz="577850">
            <a:lnSpc>
              <a:spcPct val="90000"/>
            </a:lnSpc>
            <a:spcBef>
              <a:spcPct val="0"/>
            </a:spcBef>
            <a:spcAft>
              <a:spcPct val="35000"/>
            </a:spcAft>
            <a:buNone/>
          </a:pPr>
          <a:r>
            <a:rPr lang="en-US" sz="1300" kern="1200" dirty="0"/>
            <a:t>Conclusion</a:t>
          </a:r>
        </a:p>
      </dsp:txBody>
      <dsp:txXfrm>
        <a:off x="352075" y="4844673"/>
        <a:ext cx="4629315" cy="3462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9052245-5E01-4381-B289-18AE78CFFE21}">
      <dsp:nvSpPr>
        <dsp:cNvPr id="0" name=""/>
        <dsp:cNvSpPr/>
      </dsp:nvSpPr>
      <dsp:spPr>
        <a:xfrm>
          <a:off x="1953914" y="529294"/>
          <a:ext cx="1944000" cy="1944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143E760-F2D9-4C49-BBC6-7180FFE62F19}">
      <dsp:nvSpPr>
        <dsp:cNvPr id="0" name=""/>
        <dsp:cNvSpPr/>
      </dsp:nvSpPr>
      <dsp:spPr>
        <a:xfrm>
          <a:off x="765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pPr>
          <a:r>
            <a:rPr lang="fr-FR" sz="3400" kern="1200"/>
            <a:t>Qualité des données </a:t>
          </a:r>
          <a:endParaRPr lang="en-US" sz="3400" kern="1200"/>
        </a:p>
      </dsp:txBody>
      <dsp:txXfrm>
        <a:off x="765914" y="2943510"/>
        <a:ext cx="4320000" cy="720000"/>
      </dsp:txXfrm>
    </dsp:sp>
    <dsp:sp modelId="{584012A5-871D-42A9-A962-C1E83EF42BD2}">
      <dsp:nvSpPr>
        <dsp:cNvPr id="0" name=""/>
        <dsp:cNvSpPr/>
      </dsp:nvSpPr>
      <dsp:spPr>
        <a:xfrm>
          <a:off x="7029914" y="529294"/>
          <a:ext cx="1944000" cy="1944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D09F5C-BD75-4008-B207-94029CB0AB7B}">
      <dsp:nvSpPr>
        <dsp:cNvPr id="0" name=""/>
        <dsp:cNvSpPr/>
      </dsp:nvSpPr>
      <dsp:spPr>
        <a:xfrm>
          <a:off x="5841914" y="2943510"/>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90000"/>
            </a:lnSpc>
            <a:spcBef>
              <a:spcPct val="0"/>
            </a:spcBef>
            <a:spcAft>
              <a:spcPct val="35000"/>
            </a:spcAft>
            <a:buNone/>
          </a:pPr>
          <a:r>
            <a:rPr lang="fr-FR" sz="3400" kern="1200"/>
            <a:t>Performances volatiles</a:t>
          </a:r>
          <a:endParaRPr lang="en-US" sz="3400" kern="1200"/>
        </a:p>
      </dsp:txBody>
      <dsp:txXfrm>
        <a:off x="5841914" y="2943510"/>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21A120-D926-453C-904A-691DFDED828A}" type="datetimeFigureOut">
              <a:rPr lang="fr-FR" smtClean="0"/>
              <a:t>27/04/2025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7B0B4-31D9-4FB0-9B03-221B2A9DBED1}" type="slidenum">
              <a:rPr lang="fr-FR" smtClean="0"/>
              <a:t>‹N°›</a:t>
            </a:fld>
            <a:endParaRPr lang="fr-FR"/>
          </a:p>
        </p:txBody>
      </p:sp>
    </p:spTree>
    <p:extLst>
      <p:ext uri="{BB962C8B-B14F-4D97-AF65-F5344CB8AC3E}">
        <p14:creationId xmlns:p14="http://schemas.microsoft.com/office/powerpoint/2010/main" val="39674602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0A0C2E-CD4E-9FE5-FA06-55F9EBE87C3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C833FF-5E45-34AF-3B5A-736023643E3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F55DCCAF-6644-7150-C657-AF6D5D557328}"/>
              </a:ext>
            </a:extLst>
          </p:cNvPr>
          <p:cNvSpPr>
            <a:spLocks noGrp="1"/>
          </p:cNvSpPr>
          <p:nvPr>
            <p:ph type="body" idx="1"/>
          </p:nvPr>
        </p:nvSpPr>
        <p:spPr/>
        <p:txBody>
          <a:bodyPr/>
          <a:lstStyle/>
          <a:p>
            <a:endParaRPr lang="fr-FR" dirty="0"/>
          </a:p>
        </p:txBody>
      </p:sp>
      <p:sp>
        <p:nvSpPr>
          <p:cNvPr id="4" name="Espace réservé du numéro de diapositive 3">
            <a:extLst>
              <a:ext uri="{FF2B5EF4-FFF2-40B4-BE49-F238E27FC236}">
                <a16:creationId xmlns:a16="http://schemas.microsoft.com/office/drawing/2014/main" id="{BEB24E4A-2844-8DD2-E9E2-B38C039C76A6}"/>
              </a:ext>
            </a:extLst>
          </p:cNvPr>
          <p:cNvSpPr>
            <a:spLocks noGrp="1"/>
          </p:cNvSpPr>
          <p:nvPr>
            <p:ph type="sldNum" sz="quarter" idx="5"/>
          </p:nvPr>
        </p:nvSpPr>
        <p:spPr/>
        <p:txBody>
          <a:bodyPr/>
          <a:lstStyle/>
          <a:p>
            <a:fld id="{E077B0B4-31D9-4FB0-9B03-221B2A9DBED1}" type="slidenum">
              <a:rPr lang="fr-FR" smtClean="0"/>
              <a:t>1</a:t>
            </a:fld>
            <a:endParaRPr lang="fr-FR"/>
          </a:p>
        </p:txBody>
      </p:sp>
    </p:spTree>
    <p:extLst>
      <p:ext uri="{BB962C8B-B14F-4D97-AF65-F5344CB8AC3E}">
        <p14:creationId xmlns:p14="http://schemas.microsoft.com/office/powerpoint/2010/main" val="343876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Lorsque j’aurai introduit le sujet on commencera par regarder le jeu initial. </a:t>
            </a:r>
          </a:p>
          <a:p>
            <a:r>
              <a:rPr lang="fr-FR" dirty="0"/>
              <a:t>On passera en revue le nettoyage des manquants et l’analyse des aberrants. </a:t>
            </a:r>
          </a:p>
          <a:p>
            <a:r>
              <a:rPr lang="fr-FR" dirty="0"/>
              <a:t>Ca nous conduira au </a:t>
            </a:r>
            <a:r>
              <a:rPr lang="fr-FR" dirty="0" err="1"/>
              <a:t>feature</a:t>
            </a:r>
            <a:r>
              <a:rPr lang="fr-FR" dirty="0"/>
              <a:t> engineering et au </a:t>
            </a:r>
            <a:r>
              <a:rPr lang="fr-FR" dirty="0" err="1"/>
              <a:t>preprocessing</a:t>
            </a:r>
            <a:r>
              <a:rPr lang="fr-FR" dirty="0"/>
              <a:t>. </a:t>
            </a:r>
          </a:p>
          <a:p>
            <a:r>
              <a:rPr lang="fr-FR" dirty="0"/>
              <a:t>Il y’en a d’abord un global et commun, juste avant de passer à l’aperçu des modèles. </a:t>
            </a:r>
          </a:p>
          <a:p>
            <a:r>
              <a:rPr lang="fr-FR" dirty="0"/>
              <a:t>Il y’en a un autre différent juste après, qui entre dans la partie amélioration. </a:t>
            </a:r>
          </a:p>
          <a:p>
            <a:r>
              <a:rPr lang="fr-FR" dirty="0"/>
              <a:t>On verra les améliorations qui concerne le point de vue modèle </a:t>
            </a:r>
          </a:p>
          <a:p>
            <a:r>
              <a:rPr lang="fr-FR" dirty="0"/>
              <a:t>Pour pouvoir ensuite passer à l’analyse finale du modèle retenu.</a:t>
            </a:r>
          </a:p>
          <a:p>
            <a:r>
              <a:rPr lang="fr-FR" dirty="0"/>
              <a:t>On finira avec quelques observations de l’influence de la colonne de l’</a:t>
            </a:r>
            <a:r>
              <a:rPr lang="fr-FR" dirty="0" err="1"/>
              <a:t>energystarscore</a:t>
            </a:r>
            <a:r>
              <a:rPr lang="fr-FR" dirty="0"/>
              <a:t> sur les performances d’un modèle. </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2</a:t>
            </a:fld>
            <a:endParaRPr lang="fr-FR"/>
          </a:p>
        </p:txBody>
      </p:sp>
    </p:spTree>
    <p:extLst>
      <p:ext uri="{BB962C8B-B14F-4D97-AF65-F5344CB8AC3E}">
        <p14:creationId xmlns:p14="http://schemas.microsoft.com/office/powerpoint/2010/main" val="36244061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Observez ces 2 machines comme les 2 processus qui couvrent les 2 notebooks qui nous intéressent aujourd’hui. </a:t>
            </a:r>
          </a:p>
          <a:p>
            <a:r>
              <a:rPr lang="fr-FR" dirty="0"/>
              <a:t>La première phase consiste à créer de la matière ; c’est la partie exploratoire. </a:t>
            </a:r>
          </a:p>
          <a:p>
            <a:r>
              <a:rPr lang="fr-FR" dirty="0"/>
              <a:t>Cette matière sera reprise par le 2 </a:t>
            </a:r>
            <a:r>
              <a:rPr lang="fr-FR" dirty="0" err="1"/>
              <a:t>ème</a:t>
            </a:r>
            <a:r>
              <a:rPr lang="fr-FR" dirty="0"/>
              <a:t> processus ; c’est la création d’un modèle prédictif.</a:t>
            </a:r>
          </a:p>
          <a:p>
            <a:endParaRPr lang="fr-FR" dirty="0"/>
          </a:p>
          <a:p>
            <a:r>
              <a:rPr lang="fr-FR" dirty="0"/>
              <a:t>Ces 2 étapes sont à la fois liées et indépendantes. </a:t>
            </a:r>
          </a:p>
          <a:p>
            <a:r>
              <a:rPr lang="fr-FR" dirty="0"/>
              <a:t>Le résultat global est en général meilleur si les 2 processus communique. </a:t>
            </a:r>
          </a:p>
          <a:p>
            <a:r>
              <a:rPr lang="fr-FR" dirty="0"/>
              <a:t>En revanche, l’atteinte d’un résultat ne dépend pas d’une condition de communication entre les 2.</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3</a:t>
            </a:fld>
            <a:endParaRPr lang="fr-FR"/>
          </a:p>
        </p:txBody>
      </p:sp>
    </p:spTree>
    <p:extLst>
      <p:ext uri="{BB962C8B-B14F-4D97-AF65-F5344CB8AC3E}">
        <p14:creationId xmlns:p14="http://schemas.microsoft.com/office/powerpoint/2010/main" val="27487380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Rentrons dans la création de la matière. On démarre avec un jeu de données de 3376 lignes et 46 colonnes.</a:t>
            </a:r>
          </a:p>
          <a:p>
            <a:r>
              <a:rPr lang="fr-FR" dirty="0"/>
              <a:t>En abscisse, les variables et en ordonnée, le nombre de valeurs uniques qui les composent. </a:t>
            </a:r>
          </a:p>
          <a:p>
            <a:r>
              <a:rPr lang="fr-FR" dirty="0"/>
              <a:t>On peut éliminer les colonnes qui n’ont qu’une seule et même valeur. </a:t>
            </a:r>
          </a:p>
          <a:p>
            <a:r>
              <a:rPr lang="fr-FR" dirty="0"/>
              <a:t>C’est le cas de la ville, état, année et commentaire. </a:t>
            </a:r>
          </a:p>
          <a:p>
            <a:r>
              <a:rPr lang="fr-FR" dirty="0"/>
              <a:t>L’information est Seattle et 2016. </a:t>
            </a:r>
          </a:p>
          <a:p>
            <a:r>
              <a:rPr lang="fr-FR" dirty="0"/>
              <a:t>Nous avons la plupart des colonnes catégoriques sur la gauche.</a:t>
            </a:r>
          </a:p>
          <a:p>
            <a:r>
              <a:rPr lang="fr-FR" dirty="0"/>
              <a:t>Juste à coté, </a:t>
            </a:r>
            <a:r>
              <a:rPr lang="fr-FR" dirty="0" err="1"/>
              <a:t>outlier</a:t>
            </a:r>
            <a:r>
              <a:rPr lang="fr-FR" dirty="0"/>
              <a:t> indique s’il s’agit d’un faible ou d’un gros </a:t>
            </a:r>
            <a:r>
              <a:rPr lang="fr-FR" dirty="0" err="1"/>
              <a:t>outlier</a:t>
            </a:r>
            <a:r>
              <a:rPr lang="fr-FR" dirty="0"/>
              <a:t>.</a:t>
            </a:r>
          </a:p>
          <a:p>
            <a:r>
              <a:rPr lang="fr-FR" dirty="0"/>
              <a:t>Le statut de compliance était utile pour sélectionner les données qui répondent aux conditions du problème : des habitations non destinées à la résidence.</a:t>
            </a:r>
          </a:p>
          <a:p>
            <a:r>
              <a:rPr lang="fr-FR" dirty="0"/>
              <a:t>Les 2 cibles sélectionnées sont entourées en vert. </a:t>
            </a:r>
            <a:r>
              <a:rPr lang="fr-FR" dirty="0" err="1"/>
              <a:t>GHGEmissionsIntensity</a:t>
            </a:r>
            <a:r>
              <a:rPr lang="fr-FR" dirty="0"/>
              <a:t> pour les émissions et </a:t>
            </a:r>
            <a:r>
              <a:rPr lang="fr-FR" dirty="0" err="1"/>
              <a:t>SiteEUIWN</a:t>
            </a:r>
            <a:r>
              <a:rPr lang="fr-FR" dirty="0"/>
              <a:t> pour la consommation. </a:t>
            </a:r>
          </a:p>
          <a:p>
            <a:r>
              <a:rPr lang="fr-FR" dirty="0" err="1"/>
              <a:t>kBtu</a:t>
            </a:r>
            <a:r>
              <a:rPr lang="fr-FR" dirty="0"/>
              <a:t> signifie kilo British thermal unit et </a:t>
            </a:r>
            <a:r>
              <a:rPr lang="fr-FR" dirty="0" err="1"/>
              <a:t>sf</a:t>
            </a:r>
            <a:r>
              <a:rPr lang="fr-FR" dirty="0"/>
              <a:t> square foot. L’équivalent britannique de notre consommation en W/m²</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4</a:t>
            </a:fld>
            <a:endParaRPr lang="fr-FR"/>
          </a:p>
        </p:txBody>
      </p:sp>
    </p:spTree>
    <p:extLst>
      <p:ext uri="{BB962C8B-B14F-4D97-AF65-F5344CB8AC3E}">
        <p14:creationId xmlns:p14="http://schemas.microsoft.com/office/powerpoint/2010/main" val="33767703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a:p>
            <a:r>
              <a:rPr lang="fr-FR" dirty="0"/>
              <a:t>On passe aux valeurs nulles. L</a:t>
            </a:r>
          </a:p>
          <a:p>
            <a:r>
              <a:rPr lang="fr-FR" dirty="0"/>
              <a:t>La plupart des </a:t>
            </a:r>
            <a:r>
              <a:rPr lang="fr-FR" dirty="0" err="1"/>
              <a:t>coolonnes</a:t>
            </a:r>
            <a:r>
              <a:rPr lang="fr-FR" dirty="0"/>
              <a:t> qui nous </a:t>
            </a:r>
            <a:r>
              <a:rPr lang="fr-FR" dirty="0" err="1"/>
              <a:t>intéressen</a:t>
            </a:r>
            <a:r>
              <a:rPr lang="fr-FR" dirty="0"/>
              <a:t> sont remplies sauf quelques type usage et le score </a:t>
            </a:r>
            <a:r>
              <a:rPr lang="fr-FR" dirty="0" err="1"/>
              <a:t>energetique</a:t>
            </a:r>
            <a:r>
              <a:rPr lang="fr-FR" dirty="0"/>
              <a:t>.</a:t>
            </a:r>
          </a:p>
          <a:p>
            <a:endParaRPr lang="fr-FR" dirty="0"/>
          </a:p>
          <a:p>
            <a:r>
              <a:rPr lang="fr-FR" dirty="0"/>
              <a:t>Les règles de traitements utilisées se trouvent au centre. La colonne </a:t>
            </a:r>
            <a:r>
              <a:rPr lang="fr-FR" dirty="0" err="1"/>
              <a:t>Nb_UseType</a:t>
            </a:r>
            <a:r>
              <a:rPr lang="fr-FR" dirty="0"/>
              <a:t> a été créée pour l’occasion.  </a:t>
            </a:r>
          </a:p>
          <a:p>
            <a:r>
              <a:rPr lang="fr-FR" dirty="0"/>
              <a:t>Si celle-ci indique 1 seul usage, alors la colonne usage principal peut prendre la valeur du total</a:t>
            </a:r>
          </a:p>
          <a:p>
            <a:r>
              <a:rPr lang="fr-FR" dirty="0"/>
              <a:t>Si elle indique moins que 2, le second usage sera nul. Moins que 3, le </a:t>
            </a:r>
            <a:r>
              <a:rPr lang="fr-FR" dirty="0" err="1"/>
              <a:t>troisieme</a:t>
            </a:r>
            <a:r>
              <a:rPr lang="fr-FR" dirty="0"/>
              <a:t> sera nul.</a:t>
            </a:r>
          </a:p>
          <a:p>
            <a:endParaRPr lang="fr-FR" dirty="0"/>
          </a:p>
          <a:p>
            <a:r>
              <a:rPr lang="fr-FR" dirty="0"/>
              <a:t>Dans les 4 suivantes, seule la dernière nous intéresse. </a:t>
            </a:r>
          </a:p>
          <a:p>
            <a:r>
              <a:rPr lang="fr-FR" dirty="0"/>
              <a:t>Le 0 est utilisé juste pour respecter le type numérique et avoir un jeu complet.</a:t>
            </a:r>
          </a:p>
          <a:p>
            <a:r>
              <a:rPr lang="fr-FR" dirty="0"/>
              <a:t>Plus tard, ces lignes de 0 seront supprimées pour récupérer un jeu de donnée destiné à effectuer la comparaison des modèles avec et sans al </a:t>
            </a:r>
            <a:r>
              <a:rPr lang="fr-FR" dirty="0" err="1"/>
              <a:t>coloone</a:t>
            </a:r>
            <a:r>
              <a:rPr lang="fr-FR" dirty="0"/>
              <a:t> </a:t>
            </a:r>
            <a:r>
              <a:rPr lang="fr-FR" dirty="0" err="1"/>
              <a:t>energystarscore</a:t>
            </a:r>
            <a:r>
              <a:rPr lang="fr-FR" dirty="0"/>
              <a:t>.</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5</a:t>
            </a:fld>
            <a:endParaRPr lang="fr-FR"/>
          </a:p>
        </p:txBody>
      </p:sp>
    </p:spTree>
    <p:extLst>
      <p:ext uri="{BB962C8B-B14F-4D97-AF65-F5344CB8AC3E}">
        <p14:creationId xmlns:p14="http://schemas.microsoft.com/office/powerpoint/2010/main" val="1332332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passe à l’analyse des </a:t>
            </a:r>
            <a:r>
              <a:rPr lang="fr-FR" dirty="0" err="1"/>
              <a:t>outliers</a:t>
            </a:r>
            <a:r>
              <a:rPr lang="fr-FR" dirty="0"/>
              <a:t> dans les colonnes numériques. Pour chaque variable on peut lire le nb d’individus identifié comme </a:t>
            </a:r>
            <a:r>
              <a:rPr lang="fr-FR" dirty="0" err="1"/>
              <a:t>outlier</a:t>
            </a:r>
            <a:r>
              <a:rPr lang="fr-FR" dirty="0"/>
              <a:t> selon la méthode </a:t>
            </a:r>
            <a:r>
              <a:rPr lang="fr-FR" dirty="0" err="1"/>
              <a:t>Zscore</a:t>
            </a:r>
            <a:r>
              <a:rPr lang="fr-FR" dirty="0"/>
              <a:t> et IQR ainsi que la valeurs des bornes.</a:t>
            </a:r>
          </a:p>
          <a:p>
            <a:endParaRPr lang="fr-FR" dirty="0"/>
          </a:p>
          <a:p>
            <a:r>
              <a:rPr lang="fr-FR" dirty="0"/>
              <a:t>Pour certaines colonnes, cela n’a pas de sens d’identifier des </a:t>
            </a:r>
            <a:r>
              <a:rPr lang="fr-FR" dirty="0" err="1"/>
              <a:t>outlier</a:t>
            </a:r>
            <a:r>
              <a:rPr lang="fr-FR" dirty="0"/>
              <a:t> avec cette méthode, comme latitude et longitude. Celle qui nous intéresse et qui seront </a:t>
            </a:r>
            <a:r>
              <a:rPr lang="fr-FR" dirty="0" err="1"/>
              <a:t>utlisées</a:t>
            </a:r>
            <a:r>
              <a:rPr lang="fr-FR" dirty="0"/>
              <a:t> sont les 5 en verts qui sont des </a:t>
            </a:r>
            <a:r>
              <a:rPr lang="fr-FR" dirty="0" err="1"/>
              <a:t>caract</a:t>
            </a:r>
            <a:r>
              <a:rPr lang="fr-FR" dirty="0"/>
              <a:t> structurelles des </a:t>
            </a:r>
            <a:r>
              <a:rPr lang="fr-FR" dirty="0" err="1"/>
              <a:t>batments</a:t>
            </a:r>
            <a:r>
              <a:rPr lang="fr-FR" dirty="0"/>
              <a:t>.</a:t>
            </a:r>
          </a:p>
          <a:p>
            <a:r>
              <a:rPr lang="fr-FR" dirty="0"/>
              <a:t>En orange la question se pose car il s’agit des cibles potentielles. J’ai choisi de les inclure dans les colonnes a prendre à compte car je considère que le modèle sera appliqué sur des bâtiments non extrêmes. Seul 1% de ces plus extrêmes ont été écarté. </a:t>
            </a:r>
          </a:p>
          <a:p>
            <a:endParaRPr lang="fr-FR" dirty="0"/>
          </a:p>
          <a:p>
            <a:r>
              <a:rPr lang="fr-FR" dirty="0"/>
              <a:t>Pour finir, notre jeu de données comptera 1352 individus.</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6</a:t>
            </a:fld>
            <a:endParaRPr lang="fr-FR"/>
          </a:p>
        </p:txBody>
      </p:sp>
    </p:spTree>
    <p:extLst>
      <p:ext uri="{BB962C8B-B14F-4D97-AF65-F5344CB8AC3E}">
        <p14:creationId xmlns:p14="http://schemas.microsoft.com/office/powerpoint/2010/main" val="26637722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passe au </a:t>
            </a:r>
            <a:r>
              <a:rPr lang="fr-FR" dirty="0" err="1"/>
              <a:t>feature</a:t>
            </a:r>
            <a:r>
              <a:rPr lang="fr-FR" dirty="0"/>
              <a:t> engineering, il </a:t>
            </a:r>
            <a:r>
              <a:rPr lang="fr-FR" dirty="0" err="1"/>
              <a:t>regourpe</a:t>
            </a:r>
            <a:r>
              <a:rPr lang="fr-FR" dirty="0"/>
              <a:t> des variables </a:t>
            </a:r>
            <a:r>
              <a:rPr lang="fr-FR" dirty="0" err="1"/>
              <a:t>num</a:t>
            </a:r>
            <a:r>
              <a:rPr lang="fr-FR" dirty="0"/>
              <a:t> et catégoriques. Pour les types d’usage, j’ai d’abord calculé le pourcentage d’utilisation que celui-ci représentait. On le voit sur le premier en haut, dans la partie encadrée en bleu. Pour l’individu 411, office occupe 63% de l’usage et c’est un usage primaire. Parking 32% et c’est secondaire. Data center 3,5% et c’est le 3</a:t>
            </a:r>
            <a:r>
              <a:rPr lang="fr-FR" baseline="30000" dirty="0"/>
              <a:t>e</a:t>
            </a:r>
            <a:r>
              <a:rPr lang="fr-FR" dirty="0"/>
              <a:t> usage. </a:t>
            </a:r>
          </a:p>
          <a:p>
            <a:endParaRPr lang="fr-FR" dirty="0"/>
          </a:p>
          <a:p>
            <a:r>
              <a:rPr lang="fr-FR" dirty="0"/>
              <a:t>Ensuite un encodage a été effectué en prenant comme catégorie le type d’usage ; comme valeur à encoder le % d’usage occupé. La figure du milieu </a:t>
            </a:r>
            <a:r>
              <a:rPr lang="fr-FR" dirty="0" err="1"/>
              <a:t>illsutre</a:t>
            </a:r>
            <a:r>
              <a:rPr lang="fr-FR" dirty="0"/>
              <a:t> le </a:t>
            </a:r>
            <a:r>
              <a:rPr lang="fr-FR" dirty="0" err="1"/>
              <a:t>resultat</a:t>
            </a:r>
            <a:r>
              <a:rPr lang="fr-FR" dirty="0"/>
              <a:t>. La colonne a pour nom </a:t>
            </a:r>
            <a:r>
              <a:rPr lang="fr-FR" dirty="0" err="1"/>
              <a:t>usageprimarire</a:t>
            </a:r>
            <a:r>
              <a:rPr lang="fr-FR" dirty="0"/>
              <a:t> associé à la modalité </a:t>
            </a:r>
            <a:r>
              <a:rPr lang="fr-FR" dirty="0" err="1"/>
              <a:t>correspodnate</a:t>
            </a:r>
            <a:r>
              <a:rPr lang="fr-FR" dirty="0"/>
              <a:t> office. Sa valeur est le pourcent d’utilisation. </a:t>
            </a:r>
          </a:p>
          <a:p>
            <a:r>
              <a:rPr lang="fr-FR" dirty="0"/>
              <a:t>Un encodage similaire en vert : il additionne les types primaire secondaire et troisième en un seul </a:t>
            </a:r>
            <a:r>
              <a:rPr lang="fr-FR" dirty="0" err="1"/>
              <a:t>catégroei</a:t>
            </a:r>
            <a:r>
              <a:rPr lang="fr-FR" dirty="0"/>
              <a:t>. </a:t>
            </a:r>
          </a:p>
          <a:p>
            <a:r>
              <a:rPr lang="fr-FR" dirty="0"/>
              <a:t>C’est souvent cet encodage qui répondra le mieux pour la perf des modèles.</a:t>
            </a:r>
          </a:p>
          <a:p>
            <a:endParaRPr lang="fr-FR" dirty="0"/>
          </a:p>
          <a:p>
            <a:r>
              <a:rPr lang="fr-FR" dirty="0"/>
              <a:t>Enfin, dans les autres </a:t>
            </a:r>
            <a:r>
              <a:rPr lang="fr-FR" dirty="0" err="1"/>
              <a:t>catgéorie</a:t>
            </a:r>
            <a:r>
              <a:rPr lang="fr-FR" dirty="0"/>
              <a:t> seul le </a:t>
            </a:r>
            <a:r>
              <a:rPr lang="fr-FR" dirty="0" err="1"/>
              <a:t>districtcode</a:t>
            </a:r>
            <a:r>
              <a:rPr lang="fr-FR" dirty="0"/>
              <a:t> a été sélectionné. L’analyse bivariée a montré que la modalité de cette </a:t>
            </a:r>
            <a:r>
              <a:rPr lang="fr-FR" dirty="0" err="1"/>
              <a:t>catgéorie</a:t>
            </a:r>
            <a:r>
              <a:rPr lang="fr-FR" dirty="0"/>
              <a:t> a une influence significative sur la valeur de la cible. Une </a:t>
            </a:r>
            <a:r>
              <a:rPr lang="fr-FR" dirty="0" err="1"/>
              <a:t>onehotencoding</a:t>
            </a:r>
            <a:r>
              <a:rPr lang="fr-FR" dirty="0"/>
              <a:t> est effectué. </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7</a:t>
            </a:fld>
            <a:endParaRPr lang="fr-FR"/>
          </a:p>
        </p:txBody>
      </p:sp>
    </p:spTree>
    <p:extLst>
      <p:ext uri="{BB962C8B-B14F-4D97-AF65-F5344CB8AC3E}">
        <p14:creationId xmlns:p14="http://schemas.microsoft.com/office/powerpoint/2010/main" val="23244670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arrive au bout du premier processus avec 3 types </a:t>
            </a:r>
            <a:r>
              <a:rPr lang="fr-FR" dirty="0" err="1"/>
              <a:t>dataframes</a:t>
            </a:r>
            <a:r>
              <a:rPr lang="fr-FR" dirty="0"/>
              <a:t>. </a:t>
            </a:r>
          </a:p>
          <a:p>
            <a:endParaRPr lang="fr-FR" dirty="0"/>
          </a:p>
          <a:p>
            <a:r>
              <a:rPr lang="fr-FR" dirty="0"/>
              <a:t>La machine sort 3 matières différentes à étudier pour la seconde. </a:t>
            </a:r>
            <a:r>
              <a:rPr lang="fr-FR" dirty="0" err="1"/>
              <a:t>Eur</a:t>
            </a:r>
            <a:r>
              <a:rPr lang="fr-FR" dirty="0"/>
              <a:t> différence sont résumées ici :</a:t>
            </a:r>
          </a:p>
          <a:p>
            <a:r>
              <a:rPr lang="fr-FR" dirty="0" err="1"/>
              <a:t>Blablala</a:t>
            </a:r>
            <a:endParaRPr lang="fr-FR" dirty="0"/>
          </a:p>
          <a:p>
            <a:r>
              <a:rPr lang="fr-FR" dirty="0"/>
              <a:t>Noter que les modalités prises par le type d’usage ont été réduites : les moins nombreuses sont regroupées afin de limiter le nombre de colonnes crées par l encodage </a:t>
            </a:r>
            <a:r>
              <a:rPr lang="fr-FR" dirty="0" err="1"/>
              <a:t>special</a:t>
            </a:r>
            <a:r>
              <a:rPr lang="fr-FR" dirty="0"/>
              <a:t> pour le </a:t>
            </a:r>
            <a:r>
              <a:rPr lang="fr-FR" dirty="0" err="1"/>
              <a:t>dataframe</a:t>
            </a:r>
            <a:r>
              <a:rPr lang="fr-FR" dirty="0"/>
              <a:t> final.</a:t>
            </a:r>
          </a:p>
          <a:p>
            <a:r>
              <a:rPr lang="fr-FR" dirty="0"/>
              <a:t>Les 2 variables numérique de </a:t>
            </a:r>
            <a:r>
              <a:rPr lang="fr-FR" dirty="0" err="1"/>
              <a:t>creation</a:t>
            </a:r>
            <a:r>
              <a:rPr lang="fr-FR" dirty="0"/>
              <a:t> sont plutôt du FE mais vous pouvez voir que c’est une </a:t>
            </a:r>
            <a:r>
              <a:rPr lang="fr-FR" dirty="0" err="1"/>
              <a:t>caract</a:t>
            </a:r>
            <a:r>
              <a:rPr lang="fr-FR" dirty="0"/>
              <a:t> commune.</a:t>
            </a:r>
          </a:p>
          <a:p>
            <a:endParaRPr lang="fr-FR" dirty="0"/>
          </a:p>
          <a:p>
            <a:r>
              <a:rPr lang="fr-FR" dirty="0"/>
              <a:t>Enfin des transformées des variables sont explorées avec le </a:t>
            </a:r>
            <a:r>
              <a:rPr lang="fr-FR" dirty="0" err="1"/>
              <a:t>df_transformed</a:t>
            </a:r>
            <a:r>
              <a:rPr lang="fr-FR" dirty="0"/>
              <a:t>. Cependant, ce </a:t>
            </a:r>
            <a:r>
              <a:rPr lang="fr-FR" dirty="0" err="1"/>
              <a:t>dataframe</a:t>
            </a:r>
            <a:r>
              <a:rPr lang="fr-FR" dirty="0"/>
              <a:t> n’a rien donné d’intéressant. Les transformées étaient trop nombreuses, quasi toute les </a:t>
            </a:r>
            <a:r>
              <a:rPr lang="fr-FR" dirty="0" err="1"/>
              <a:t>variabbles</a:t>
            </a:r>
            <a:r>
              <a:rPr lang="fr-FR" dirty="0"/>
              <a:t>.</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8</a:t>
            </a:fld>
            <a:endParaRPr lang="fr-FR"/>
          </a:p>
        </p:txBody>
      </p:sp>
    </p:spTree>
    <p:extLst>
      <p:ext uri="{BB962C8B-B14F-4D97-AF65-F5344CB8AC3E}">
        <p14:creationId xmlns:p14="http://schemas.microsoft.com/office/powerpoint/2010/main" val="2435407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On arrive sur la partie qui concerne les notebooks de </a:t>
            </a:r>
            <a:r>
              <a:rPr lang="fr-FR" dirty="0" err="1"/>
              <a:t>prédicitions</a:t>
            </a:r>
            <a:r>
              <a:rPr lang="fr-FR" dirty="0"/>
              <a:t>.</a:t>
            </a:r>
          </a:p>
          <a:p>
            <a:r>
              <a:rPr lang="fr-FR" dirty="0"/>
              <a:t>Cet </a:t>
            </a:r>
            <a:r>
              <a:rPr lang="fr-FR" dirty="0" err="1"/>
              <a:t>overview</a:t>
            </a:r>
            <a:r>
              <a:rPr lang="fr-FR" dirty="0"/>
              <a:t> est réalisé sur chaque </a:t>
            </a:r>
            <a:r>
              <a:rPr lang="fr-FR" dirty="0" err="1"/>
              <a:t>df</a:t>
            </a:r>
            <a:r>
              <a:rPr lang="fr-FR" dirty="0"/>
              <a:t>, pour chaque cible. Donc ici ce sont les résultats pour un </a:t>
            </a:r>
            <a:r>
              <a:rPr lang="fr-FR" dirty="0" err="1"/>
              <a:t>dataframe</a:t>
            </a:r>
            <a:r>
              <a:rPr lang="fr-FR" dirty="0"/>
              <a:t> de chaque modèle, sur les 2 cibles.</a:t>
            </a:r>
          </a:p>
          <a:p>
            <a:r>
              <a:rPr lang="fr-FR" dirty="0"/>
              <a:t>A gauche c’est la cible de consommation, le </a:t>
            </a:r>
            <a:r>
              <a:rPr lang="fr-FR" dirty="0" err="1"/>
              <a:t>dataframe</a:t>
            </a:r>
            <a:r>
              <a:rPr lang="fr-FR" dirty="0"/>
              <a:t> utilisé est XXXXXXXXXX.</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 droite c’est la cible d’émissions, le </a:t>
            </a:r>
            <a:r>
              <a:rPr lang="fr-FR" dirty="0" err="1"/>
              <a:t>dataframe</a:t>
            </a:r>
            <a:r>
              <a:rPr lang="fr-FR" dirty="0"/>
              <a:t> utilisé est XXXXXXXXXX.</a:t>
            </a:r>
          </a:p>
          <a:p>
            <a:endParaRPr lang="fr-FR" dirty="0"/>
          </a:p>
          <a:p>
            <a:r>
              <a:rPr lang="fr-FR" dirty="0"/>
              <a:t>On observe que les modèle sont globalement meilleurs pour la 2</a:t>
            </a:r>
            <a:r>
              <a:rPr lang="fr-FR" baseline="30000" dirty="0"/>
              <a:t>ème</a:t>
            </a:r>
            <a:r>
              <a:rPr lang="fr-FR" dirty="0"/>
              <a:t> cible. A noter que c’est le log de la cible.</a:t>
            </a:r>
          </a:p>
          <a:p>
            <a:r>
              <a:rPr lang="fr-FR" dirty="0"/>
              <a:t>Coté métrique, la plus simple pour avoir une idée de la performance du modèle est la MAE. </a:t>
            </a:r>
          </a:p>
          <a:p>
            <a:r>
              <a:rPr lang="fr-FR" dirty="0"/>
              <a:t>Pour T1, on sait que le modèle se trompe en moyenne de 30,7 sur la </a:t>
            </a:r>
            <a:r>
              <a:rPr lang="fr-FR" dirty="0" err="1"/>
              <a:t>pred</a:t>
            </a:r>
            <a:r>
              <a:rPr lang="fr-FR" dirty="0"/>
              <a:t>. </a:t>
            </a:r>
          </a:p>
          <a:p>
            <a:r>
              <a:rPr lang="fr-FR" dirty="0"/>
              <a:t>C’est plutôt mauvais sachant que 25% des valeurs sont XXX à XXX</a:t>
            </a:r>
          </a:p>
          <a:p>
            <a:endParaRPr lang="fr-FR" dirty="0"/>
          </a:p>
          <a:p>
            <a:endParaRPr lang="fr-FR" dirty="0"/>
          </a:p>
          <a:p>
            <a:r>
              <a:rPr lang="fr-FR" dirty="0"/>
              <a:t>La RMSE nous donne une indication sur la présence d’</a:t>
            </a:r>
            <a:r>
              <a:rPr lang="fr-FR" dirty="0" err="1"/>
              <a:t>outliers</a:t>
            </a:r>
            <a:r>
              <a:rPr lang="fr-FR" dirty="0"/>
              <a:t> dans les </a:t>
            </a:r>
            <a:r>
              <a:rPr lang="fr-FR" dirty="0" err="1"/>
              <a:t>predictions</a:t>
            </a:r>
            <a:r>
              <a:rPr lang="fr-FR" dirty="0"/>
              <a:t>.</a:t>
            </a:r>
          </a:p>
          <a:p>
            <a:r>
              <a:rPr lang="fr-FR" dirty="0"/>
              <a:t>Celle que j’ai privilégié c’est le coefficient de corrélation R2. </a:t>
            </a:r>
          </a:p>
          <a:p>
            <a:r>
              <a:rPr lang="fr-FR" dirty="0"/>
              <a:t>On voit que c’est la forêt aléatoire qui est la meilleure.</a:t>
            </a:r>
          </a:p>
          <a:p>
            <a:endParaRPr lang="fr-FR" dirty="0"/>
          </a:p>
          <a:p>
            <a:endParaRPr lang="fr-FR" dirty="0"/>
          </a:p>
          <a:p>
            <a:r>
              <a:rPr lang="fr-FR" dirty="0"/>
              <a:t>Avec la MAE seule, une SVR polynomiale de degré 4 était meilleure mais avec des erreurs grossières nombreuse et une faible corrélation globale.</a:t>
            </a:r>
          </a:p>
          <a:p>
            <a:endParaRPr lang="fr-FR" dirty="0"/>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Dans la suite on continue avec la méthodologie qui est la même pour les 2 cibles. </a:t>
            </a:r>
          </a:p>
          <a:p>
            <a:r>
              <a:rPr lang="fr-FR" dirty="0"/>
              <a:t>Pour des questions pratiques, on suivra les résultats pour un modèle, pour une des cibles. </a:t>
            </a:r>
          </a:p>
          <a:p>
            <a:r>
              <a:rPr lang="fr-FR" dirty="0"/>
              <a:t>Pour plus de détails à propos des différents résultats aux phases de développements, vous les trouverez en chapitres 3 et 4 des notebooks 2 et 3.</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Voyons les précisions concernant la première.</a:t>
            </a:r>
          </a:p>
          <a:p>
            <a:endParaRPr lang="fr-FR" dirty="0"/>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9</a:t>
            </a:fld>
            <a:endParaRPr lang="fr-FR"/>
          </a:p>
        </p:txBody>
      </p:sp>
    </p:spTree>
    <p:extLst>
      <p:ext uri="{BB962C8B-B14F-4D97-AF65-F5344CB8AC3E}">
        <p14:creationId xmlns:p14="http://schemas.microsoft.com/office/powerpoint/2010/main" val="27099136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Ensuite on continue avec le </a:t>
            </a:r>
            <a:r>
              <a:rPr lang="fr-FR" dirty="0" err="1"/>
              <a:t>df</a:t>
            </a:r>
            <a:r>
              <a:rPr lang="fr-FR" dirty="0"/>
              <a:t> qui nous donne les meilleur </a:t>
            </a:r>
            <a:r>
              <a:rPr lang="fr-FR" dirty="0" err="1"/>
              <a:t>resultat</a:t>
            </a:r>
            <a:r>
              <a:rPr lang="fr-FR" dirty="0"/>
              <a:t> dans aperçu.</a:t>
            </a:r>
          </a:p>
          <a:p>
            <a:r>
              <a:rPr lang="fr-FR" dirty="0"/>
              <a:t>On commence par tenter des améliorations de perfs orientés data : </a:t>
            </a:r>
          </a:p>
          <a:p>
            <a:r>
              <a:rPr lang="fr-FR" dirty="0"/>
              <a:t>Une fonction va appliquer les </a:t>
            </a:r>
            <a:r>
              <a:rPr lang="fr-FR" dirty="0" err="1"/>
              <a:t>scaling</a:t>
            </a:r>
            <a:r>
              <a:rPr lang="fr-FR" dirty="0"/>
              <a:t> principaux et toutes les ACP possibles. Ensuite,</a:t>
            </a:r>
          </a:p>
          <a:p>
            <a:r>
              <a:rPr lang="fr-FR" dirty="0"/>
              <a:t>On regarde les </a:t>
            </a:r>
            <a:r>
              <a:rPr lang="fr-FR" dirty="0" err="1"/>
              <a:t>resulatt</a:t>
            </a:r>
            <a:r>
              <a:rPr lang="fr-FR" dirty="0"/>
              <a:t> dans le fichier </a:t>
            </a:r>
            <a:r>
              <a:rPr lang="fr-FR" dirty="0" err="1"/>
              <a:t>excel</a:t>
            </a:r>
            <a:r>
              <a:rPr lang="fr-FR" dirty="0"/>
              <a:t> créés pour choisir le meilleur. Ici par exemple,</a:t>
            </a:r>
          </a:p>
          <a:p>
            <a:r>
              <a:rPr lang="fr-FR" dirty="0"/>
              <a:t>On observe que la meilleur transformation a faire est : pas de </a:t>
            </a:r>
            <a:r>
              <a:rPr lang="fr-FR" dirty="0" err="1"/>
              <a:t>scaling</a:t>
            </a:r>
            <a:r>
              <a:rPr lang="fr-FR" dirty="0"/>
              <a:t> et une ACP à 23 composantes.</a:t>
            </a:r>
          </a:p>
          <a:p>
            <a:endParaRPr lang="fr-FR" dirty="0"/>
          </a:p>
          <a:p>
            <a:r>
              <a:rPr lang="fr-FR" dirty="0"/>
              <a:t>Les fichiers de résultats montrent que plus de colonnes ne veut pas dire plus de qualité. Cela dépend pour chacun de la manière dont les données sont disponible au départ puis dont elle sont agrégées par l’ACP.</a:t>
            </a:r>
          </a:p>
          <a:p>
            <a:r>
              <a:rPr lang="fr-FR" dirty="0"/>
              <a:t>De manière générale, l’encodage qui effectuait la somme des catégories était moins propice à des grosses améliorations par l’ACP.</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10</a:t>
            </a:fld>
            <a:endParaRPr lang="fr-FR"/>
          </a:p>
        </p:txBody>
      </p:sp>
    </p:spTree>
    <p:extLst>
      <p:ext uri="{BB962C8B-B14F-4D97-AF65-F5344CB8AC3E}">
        <p14:creationId xmlns:p14="http://schemas.microsoft.com/office/powerpoint/2010/main" val="33866921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Après avoir choisi notre </a:t>
            </a:r>
            <a:r>
              <a:rPr lang="fr-FR" dirty="0" err="1"/>
              <a:t>df</a:t>
            </a:r>
            <a:r>
              <a:rPr lang="fr-FR" dirty="0"/>
              <a:t> et son amélioration, on tente de monter les perfs en créant de nouvelles variables. Elles ne sont pas prises au hasard, elles ont été sélectionné en fonction de leur importance pour el modèle. On voit en haut les top SHAP values. </a:t>
            </a:r>
          </a:p>
          <a:p>
            <a:r>
              <a:rPr lang="fr-FR" dirty="0"/>
              <a:t>Quelques type usages, la part du </a:t>
            </a:r>
          </a:p>
          <a:p>
            <a:r>
              <a:rPr lang="fr-FR" dirty="0" err="1"/>
              <a:t>gas</a:t>
            </a:r>
            <a:r>
              <a:rPr lang="fr-FR" dirty="0"/>
              <a:t>, </a:t>
            </a:r>
            <a:r>
              <a:rPr lang="fr-FR" dirty="0" err="1"/>
              <a:t>l’age</a:t>
            </a:r>
            <a:r>
              <a:rPr lang="fr-FR" dirty="0"/>
              <a:t> et la surface du </a:t>
            </a:r>
            <a:r>
              <a:rPr lang="fr-FR" dirty="0" err="1"/>
              <a:t>batiment</a:t>
            </a:r>
            <a:r>
              <a:rPr lang="fr-FR" dirty="0"/>
              <a:t>.</a:t>
            </a:r>
          </a:p>
          <a:p>
            <a:endParaRPr lang="fr-FR" dirty="0"/>
          </a:p>
          <a:p>
            <a:r>
              <a:rPr lang="fr-FR" dirty="0"/>
              <a:t>Quelques produits, somme et différence sont appliqués.</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11</a:t>
            </a:fld>
            <a:endParaRPr lang="fr-FR"/>
          </a:p>
        </p:txBody>
      </p:sp>
    </p:spTree>
    <p:extLst>
      <p:ext uri="{BB962C8B-B14F-4D97-AF65-F5344CB8AC3E}">
        <p14:creationId xmlns:p14="http://schemas.microsoft.com/office/powerpoint/2010/main" val="1069052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Voici un résumé des méliorations orientées data testées. On considère 2 </a:t>
            </a:r>
            <a:r>
              <a:rPr lang="fr-FR" dirty="0" err="1"/>
              <a:t>df</a:t>
            </a:r>
            <a:r>
              <a:rPr lang="fr-FR" dirty="0"/>
              <a:t> pour l’exemple. </a:t>
            </a:r>
            <a:r>
              <a:rPr lang="fr-FR" dirty="0" err="1"/>
              <a:t>Df</a:t>
            </a:r>
            <a:r>
              <a:rPr lang="fr-FR" dirty="0"/>
              <a:t> et </a:t>
            </a:r>
            <a:r>
              <a:rPr lang="fr-FR" dirty="0" err="1"/>
              <a:t>df_summed</a:t>
            </a:r>
            <a:r>
              <a:rPr lang="fr-FR" dirty="0"/>
              <a:t> selon l’encodage.</a:t>
            </a:r>
          </a:p>
          <a:p>
            <a:r>
              <a:rPr lang="fr-FR" dirty="0"/>
              <a:t>Il y’a la partie FE qu’on vient de voir. L’ACP et el </a:t>
            </a:r>
            <a:r>
              <a:rPr lang="fr-FR" dirty="0" err="1"/>
              <a:t>scaling</a:t>
            </a:r>
            <a:r>
              <a:rPr lang="fr-FR" dirty="0"/>
              <a:t> et enfin </a:t>
            </a:r>
            <a:r>
              <a:rPr lang="fr-FR" dirty="0" err="1"/>
              <a:t>uen</a:t>
            </a:r>
            <a:r>
              <a:rPr lang="fr-FR" dirty="0"/>
              <a:t> RFE </a:t>
            </a:r>
            <a:r>
              <a:rPr lang="fr-FR" dirty="0" err="1"/>
              <a:t>Recursive</a:t>
            </a:r>
            <a:r>
              <a:rPr lang="fr-FR" dirty="0"/>
              <a:t> </a:t>
            </a:r>
            <a:r>
              <a:rPr lang="fr-FR" dirty="0" err="1"/>
              <a:t>Featrue</a:t>
            </a:r>
            <a:r>
              <a:rPr lang="fr-FR" dirty="0"/>
              <a:t> </a:t>
            </a:r>
            <a:r>
              <a:rPr lang="fr-FR" dirty="0" err="1"/>
              <a:t>elimination</a:t>
            </a:r>
            <a:r>
              <a:rPr lang="fr-FR" dirty="0"/>
              <a:t>. </a:t>
            </a:r>
          </a:p>
          <a:p>
            <a:endParaRPr lang="fr-FR" dirty="0"/>
          </a:p>
          <a:p>
            <a:r>
              <a:rPr lang="fr-FR" dirty="0"/>
              <a:t>Cette méthode retire les </a:t>
            </a:r>
            <a:r>
              <a:rPr lang="fr-FR" dirty="0" err="1"/>
              <a:t>features</a:t>
            </a:r>
            <a:r>
              <a:rPr lang="fr-FR" dirty="0"/>
              <a:t> les moins importantes du modèle une par une jusqu’à atteindre un seuil fixé en entrée.</a:t>
            </a:r>
          </a:p>
          <a:p>
            <a:r>
              <a:rPr lang="fr-FR" dirty="0"/>
              <a:t>Dans </a:t>
            </a:r>
            <a:r>
              <a:rPr lang="fr-FR" dirty="0" err="1"/>
              <a:t>otre</a:t>
            </a:r>
            <a:r>
              <a:rPr lang="fr-FR" dirty="0"/>
              <a:t> cas, une RFE à 75% était bien pour xx et 60% pour l’autre.</a:t>
            </a:r>
          </a:p>
          <a:p>
            <a:endParaRPr lang="fr-FR" dirty="0"/>
          </a:p>
          <a:p>
            <a:r>
              <a:rPr lang="fr-FR" dirty="0"/>
              <a:t>C’est l’ensemble de ces possibilités qui combinées forment nos améliorations orientées data.</a:t>
            </a:r>
          </a:p>
          <a:p>
            <a:endParaRPr lang="fr-FR" dirty="0"/>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12</a:t>
            </a:fld>
            <a:endParaRPr lang="fr-FR"/>
          </a:p>
        </p:txBody>
      </p:sp>
    </p:spTree>
    <p:extLst>
      <p:ext uri="{BB962C8B-B14F-4D97-AF65-F5344CB8AC3E}">
        <p14:creationId xmlns:p14="http://schemas.microsoft.com/office/powerpoint/2010/main" val="22954857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Ensuite on passe aux améliorations orientées modèles. On définit les hyperparamètres du modèle. ’est la </a:t>
            </a:r>
            <a:r>
              <a:rPr lang="fr-FR" dirty="0" err="1"/>
              <a:t>def</a:t>
            </a:r>
            <a:r>
              <a:rPr lang="fr-FR" dirty="0"/>
              <a:t> de s </a:t>
            </a:r>
            <a:r>
              <a:rPr lang="fr-FR" dirty="0" err="1"/>
              <a:t>hyeprpar</a:t>
            </a:r>
            <a:r>
              <a:rPr lang="fr-FR" dirty="0"/>
              <a:t>.</a:t>
            </a:r>
          </a:p>
          <a:p>
            <a:r>
              <a:rPr lang="fr-FR" dirty="0"/>
              <a:t>1 </a:t>
            </a:r>
            <a:r>
              <a:rPr lang="fr-FR" dirty="0" err="1"/>
              <a:t>random</a:t>
            </a:r>
            <a:r>
              <a:rPr lang="fr-FR" dirty="0"/>
              <a:t> : direction – idée rapide</a:t>
            </a:r>
          </a:p>
          <a:p>
            <a:r>
              <a:rPr lang="fr-FR" dirty="0"/>
              <a:t>2 </a:t>
            </a:r>
            <a:r>
              <a:rPr lang="fr-FR" dirty="0" err="1"/>
              <a:t>grid</a:t>
            </a:r>
            <a:r>
              <a:rPr lang="fr-FR" dirty="0"/>
              <a:t> : focus précis plus long et décision finale.</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13</a:t>
            </a:fld>
            <a:endParaRPr lang="fr-FR"/>
          </a:p>
        </p:txBody>
      </p:sp>
    </p:spTree>
    <p:extLst>
      <p:ext uri="{BB962C8B-B14F-4D97-AF65-F5344CB8AC3E}">
        <p14:creationId xmlns:p14="http://schemas.microsoft.com/office/powerpoint/2010/main" val="6089881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Coté analyse du modèle ici on voit le graphe des résidus du train et du test.</a:t>
            </a:r>
          </a:p>
          <a:p>
            <a:r>
              <a:rPr lang="fr-FR" dirty="0"/>
              <a:t>Le plus important est le test ici à gauche. Un modèle idéal aurait des points le long de la ligne rouge, qui </a:t>
            </a:r>
            <a:r>
              <a:rPr lang="fr-FR" dirty="0" err="1"/>
              <a:t>représene</a:t>
            </a:r>
            <a:r>
              <a:rPr lang="fr-FR" dirty="0"/>
              <a:t> un résidu pour chaque valeur prédite. </a:t>
            </a:r>
          </a:p>
          <a:p>
            <a:r>
              <a:rPr lang="fr-FR" dirty="0"/>
              <a:t>On voit que les points sont généralement loin et mal disposé le long de la droite. </a:t>
            </a:r>
          </a:p>
          <a:p>
            <a:r>
              <a:rPr lang="fr-FR" dirty="0"/>
              <a:t>Les valeurs prédites dépassent difficilement 100-120, il n’y a que 4 prédictions au-dessus de 200. </a:t>
            </a:r>
          </a:p>
          <a:p>
            <a:r>
              <a:rPr lang="fr-FR" dirty="0"/>
              <a:t>Le R2 final n’est que de 0.44 ; 2 centième plus élevés, la MAE est même légèrement plus élevées mais on a réduit les </a:t>
            </a:r>
            <a:r>
              <a:rPr lang="fr-FR" dirty="0" err="1"/>
              <a:t>outliers</a:t>
            </a:r>
            <a:r>
              <a:rPr lang="fr-FR" dirty="0"/>
              <a:t> de prédictions.</a:t>
            </a:r>
          </a:p>
          <a:p>
            <a:endParaRPr lang="fr-FR" dirty="0"/>
          </a:p>
          <a:p>
            <a:endParaRPr lang="fr-FR" dirty="0"/>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14</a:t>
            </a:fld>
            <a:endParaRPr lang="fr-FR"/>
          </a:p>
        </p:txBody>
      </p:sp>
    </p:spTree>
    <p:extLst>
      <p:ext uri="{BB962C8B-B14F-4D97-AF65-F5344CB8AC3E}">
        <p14:creationId xmlns:p14="http://schemas.microsoft.com/office/powerpoint/2010/main" val="2867291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autre aperçu des résidus ici, on peut voir leur distribution générale qui se rapproche d’une loi normale. Cependant ils ne sont pas parfaitement aléatoirement réparti le long de la ligne. </a:t>
            </a:r>
          </a:p>
          <a:p>
            <a:r>
              <a:rPr lang="fr-FR" dirty="0"/>
              <a:t>On voit les top </a:t>
            </a:r>
            <a:r>
              <a:rPr lang="fr-FR" dirty="0" err="1"/>
              <a:t>outlier</a:t>
            </a:r>
            <a:r>
              <a:rPr lang="fr-FR" dirty="0"/>
              <a:t> dans le tableau qui ont des prédictions bien trop faibles. </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15</a:t>
            </a:fld>
            <a:endParaRPr lang="fr-FR"/>
          </a:p>
        </p:txBody>
      </p:sp>
    </p:spTree>
    <p:extLst>
      <p:ext uri="{BB962C8B-B14F-4D97-AF65-F5344CB8AC3E}">
        <p14:creationId xmlns:p14="http://schemas.microsoft.com/office/powerpoint/2010/main" val="31070930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l’importance des variables, une se détache du lot. Il est difficile après l’ACP de la nommer, mais elle inclut fortement le type supermarché.  La fonction interne aux forêt aléatoire lui donne une importance de 23%.</a:t>
            </a:r>
          </a:p>
          <a:p>
            <a:r>
              <a:rPr lang="fr-FR" dirty="0"/>
              <a:t>Le coefficient de Gini est erroné, ce qui est plus intéressant est la courbe de Lorenz. On voit qu’à part la plus importante, les autres se répartissent assez bien l’importance de décision. La courbe réelle bleue est relativement proche de la ligne d’égalité parfaite.</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16</a:t>
            </a:fld>
            <a:endParaRPr lang="fr-FR"/>
          </a:p>
        </p:txBody>
      </p:sp>
    </p:spTree>
    <p:extLst>
      <p:ext uri="{BB962C8B-B14F-4D97-AF65-F5344CB8AC3E}">
        <p14:creationId xmlns:p14="http://schemas.microsoft.com/office/powerpoint/2010/main" val="36018425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Pour l’importance je préfère les valeurs de SHAPLEY. </a:t>
            </a:r>
          </a:p>
          <a:p>
            <a:r>
              <a:rPr lang="fr-FR" dirty="0"/>
              <a:t>D’abord sur la gauche,</a:t>
            </a:r>
          </a:p>
          <a:p>
            <a:r>
              <a:rPr lang="fr-FR" dirty="0"/>
              <a:t>On a une valeur de prédiction de base à 71,04. Ensuite, cette valeur sera modifiée (augmentée ou diminuée selon le signe),</a:t>
            </a:r>
          </a:p>
          <a:p>
            <a:r>
              <a:rPr lang="fr-FR" dirty="0"/>
              <a:t>par chaque composantes. En regardant, le classement par valeurs moyennes données aux </a:t>
            </a:r>
            <a:r>
              <a:rPr lang="fr-FR" dirty="0" err="1"/>
              <a:t>prédiciton</a:t>
            </a:r>
            <a:r>
              <a:rPr lang="fr-FR" dirty="0"/>
              <a:t> par variables</a:t>
            </a:r>
          </a:p>
          <a:p>
            <a:r>
              <a:rPr lang="fr-FR" dirty="0"/>
              <a:t>On voit qu’en moyenne, PC2 modifie la valeur de la prédiction de 8,14</a:t>
            </a:r>
          </a:p>
          <a:p>
            <a:r>
              <a:rPr lang="fr-FR" dirty="0"/>
              <a:t>La PC2 de 6,04.</a:t>
            </a:r>
          </a:p>
          <a:p>
            <a:r>
              <a:rPr lang="fr-FR" dirty="0"/>
              <a:t>Pour avoir une idée des valeurs prises par individus, on peut regarder à droite</a:t>
            </a:r>
          </a:p>
          <a:p>
            <a:endParaRPr lang="fr-FR" dirty="0"/>
          </a:p>
          <a:p>
            <a:r>
              <a:rPr lang="fr-FR" dirty="0"/>
              <a:t>Une répartition globale de ces valeurs sur l’axe X, en fonction de la valeur prise par la composante </a:t>
            </a:r>
            <a:r>
              <a:rPr lang="fr-FR" dirty="0" err="1"/>
              <a:t>representée</a:t>
            </a:r>
            <a:r>
              <a:rPr lang="fr-FR" dirty="0"/>
              <a:t> par le changement de </a:t>
            </a:r>
            <a:r>
              <a:rPr lang="fr-FR" dirty="0" err="1"/>
              <a:t>couleurn</a:t>
            </a:r>
            <a:r>
              <a:rPr lang="fr-FR" dirty="0"/>
              <a:t>, pour chaque individu.</a:t>
            </a:r>
          </a:p>
          <a:p>
            <a:endParaRPr lang="fr-FR" dirty="0"/>
          </a:p>
          <a:p>
            <a:r>
              <a:rPr lang="fr-FR" dirty="0"/>
              <a:t>Par exemple, la composante PC4 contient 4 </a:t>
            </a:r>
            <a:r>
              <a:rPr lang="fr-FR" dirty="0" err="1"/>
              <a:t>outliers</a:t>
            </a:r>
            <a:r>
              <a:rPr lang="fr-FR" dirty="0"/>
              <a:t> dans ses valeurs de </a:t>
            </a:r>
            <a:r>
              <a:rPr lang="fr-FR" dirty="0" err="1"/>
              <a:t>SHAPley</a:t>
            </a:r>
            <a:r>
              <a:rPr lang="fr-FR" dirty="0"/>
              <a:t> vers 150 et 200. Ces points ont aussi une valeur très élevés pour cette composante. </a:t>
            </a:r>
          </a:p>
          <a:p>
            <a:r>
              <a:rPr lang="fr-FR" dirty="0"/>
              <a:t>Ils ont donc vu leur valeur de prédiction augmenté et sont les top résidus.</a:t>
            </a:r>
          </a:p>
          <a:p>
            <a:endParaRPr lang="fr-FR" dirty="0"/>
          </a:p>
          <a:p>
            <a:r>
              <a:rPr lang="fr-FR" dirty="0"/>
              <a:t>Pour PC31, une valeur faible prise par la composante augmente la valeur de </a:t>
            </a:r>
            <a:r>
              <a:rPr lang="fr-FR" dirty="0" err="1"/>
              <a:t>shapley</a:t>
            </a:r>
            <a:r>
              <a:rPr lang="fr-FR" dirty="0"/>
              <a:t>.</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17</a:t>
            </a:fld>
            <a:endParaRPr lang="fr-FR"/>
          </a:p>
        </p:txBody>
      </p:sp>
    </p:spTree>
    <p:extLst>
      <p:ext uri="{BB962C8B-B14F-4D97-AF65-F5344CB8AC3E}">
        <p14:creationId xmlns:p14="http://schemas.microsoft.com/office/powerpoint/2010/main" val="23940450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Un modèle a été construit avec le jeu de données enrichi de la colonne </a:t>
            </a:r>
            <a:r>
              <a:rPr lang="fr-FR" dirty="0" err="1"/>
              <a:t>energyscore</a:t>
            </a:r>
            <a:r>
              <a:rPr lang="fr-FR" dirty="0"/>
              <a:t>. </a:t>
            </a:r>
          </a:p>
          <a:p>
            <a:r>
              <a:rPr lang="fr-FR" dirty="0"/>
              <a:t>Le modèle est bien meilleur que le précédent. La MAE est presque la moitié et un R2 de 0.77.</a:t>
            </a:r>
          </a:p>
          <a:p>
            <a:r>
              <a:rPr lang="fr-FR" dirty="0"/>
              <a:t>En même temps, l’écart entre le train et le test est plus petit. Cela suggère que le modèle est aussi meilleur dans la généralisation des prédictions.</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18</a:t>
            </a:fld>
            <a:endParaRPr lang="fr-FR"/>
          </a:p>
        </p:txBody>
      </p:sp>
    </p:spTree>
    <p:extLst>
      <p:ext uri="{BB962C8B-B14F-4D97-AF65-F5344CB8AC3E}">
        <p14:creationId xmlns:p14="http://schemas.microsoft.com/office/powerpoint/2010/main" val="17907329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Ici, on voit que cette variable est la 2è plus importante selon cette analyse.</a:t>
            </a:r>
          </a:p>
          <a:p>
            <a:r>
              <a:rPr lang="fr-FR" dirty="0"/>
              <a:t>Elles sont aussi très inégalitaires. 4 variables renferment + de 80 de la décision.</a:t>
            </a:r>
          </a:p>
          <a:p>
            <a:r>
              <a:rPr lang="fr-FR" dirty="0"/>
              <a:t>Près de 45 et 25 pour la 1 et la 2.</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19</a:t>
            </a:fld>
            <a:endParaRPr lang="fr-FR"/>
          </a:p>
        </p:txBody>
      </p:sp>
    </p:spTree>
    <p:extLst>
      <p:ext uri="{BB962C8B-B14F-4D97-AF65-F5344CB8AC3E}">
        <p14:creationId xmlns:p14="http://schemas.microsoft.com/office/powerpoint/2010/main" val="1993091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Lorsqu’on s’intéresse aux valeurs de </a:t>
            </a:r>
            <a:r>
              <a:rPr lang="fr-FR" dirty="0" err="1"/>
              <a:t>shapley</a:t>
            </a:r>
            <a:r>
              <a:rPr lang="fr-FR" dirty="0"/>
              <a:t>, la colonne du score se montre la plus pesante dans la prédiction. Une variation de 16 point en moyenne alors que la 2è est à 10.</a:t>
            </a:r>
          </a:p>
          <a:p>
            <a:r>
              <a:rPr lang="fr-FR" dirty="0"/>
              <a:t>Lorsque le score baisse, la valeur de la prédiction augmente. Suggérant que les individus moins bien notés ont tendance à consommer davantage.</a:t>
            </a:r>
          </a:p>
          <a:p>
            <a:r>
              <a:rPr lang="fr-FR" dirty="0"/>
              <a:t>Inversement, une bonne note baisse la valeur de la </a:t>
            </a:r>
            <a:r>
              <a:rPr lang="fr-FR" dirty="0" err="1"/>
              <a:t>prédiciton</a:t>
            </a:r>
            <a:r>
              <a:rPr lang="fr-FR" dirty="0"/>
              <a:t>.</a:t>
            </a:r>
          </a:p>
          <a:p>
            <a:r>
              <a:rPr lang="fr-FR" dirty="0"/>
              <a:t>Ce qui peut paraitre contre intuitif ici, c’est que pour la superficie, les grands bâtiments ont tendance à avoir une consommation surfacique plus élevée.</a:t>
            </a:r>
          </a:p>
          <a:p>
            <a:r>
              <a:rPr lang="fr-FR" dirty="0"/>
              <a:t>Les </a:t>
            </a:r>
            <a:r>
              <a:rPr lang="fr-FR" dirty="0" err="1"/>
              <a:t>batiments</a:t>
            </a:r>
            <a:r>
              <a:rPr lang="fr-FR" dirty="0"/>
              <a:t> utilisant plus du gaz par rapport à l’électricité consomment aussi davantage.</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20</a:t>
            </a:fld>
            <a:endParaRPr lang="fr-FR"/>
          </a:p>
        </p:txBody>
      </p:sp>
    </p:spTree>
    <p:extLst>
      <p:ext uri="{BB962C8B-B14F-4D97-AF65-F5344CB8AC3E}">
        <p14:creationId xmlns:p14="http://schemas.microsoft.com/office/powerpoint/2010/main" val="21869103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2 choses à retenir sur ce projet c’est que les performances des modèles sont très volatiles. Elles dépendent à la fois du modèle choisi, du </a:t>
            </a:r>
            <a:r>
              <a:rPr lang="fr-FR" dirty="0" err="1"/>
              <a:t>preprocessing</a:t>
            </a:r>
            <a:r>
              <a:rPr lang="fr-FR" dirty="0"/>
              <a:t> appliqué mais aussi de la cible choisie.</a:t>
            </a:r>
          </a:p>
          <a:p>
            <a:r>
              <a:rPr lang="fr-FR" dirty="0"/>
              <a:t>La qualité des données et la compréhension du contenu est primordiale pour avoir des résultats fiables.</a:t>
            </a:r>
          </a:p>
        </p:txBody>
      </p:sp>
      <p:sp>
        <p:nvSpPr>
          <p:cNvPr id="4" name="Espace réservé du numéro de diapositive 3"/>
          <p:cNvSpPr>
            <a:spLocks noGrp="1"/>
          </p:cNvSpPr>
          <p:nvPr>
            <p:ph type="sldNum" sz="quarter" idx="5"/>
          </p:nvPr>
        </p:nvSpPr>
        <p:spPr/>
        <p:txBody>
          <a:bodyPr/>
          <a:lstStyle/>
          <a:p>
            <a:fld id="{E077B0B4-31D9-4FB0-9B03-221B2A9DBED1}" type="slidenum">
              <a:rPr lang="fr-FR" smtClean="0"/>
              <a:t>21</a:t>
            </a:fld>
            <a:endParaRPr lang="fr-FR"/>
          </a:p>
        </p:txBody>
      </p:sp>
    </p:spTree>
    <p:extLst>
      <p:ext uri="{BB962C8B-B14F-4D97-AF65-F5344CB8AC3E}">
        <p14:creationId xmlns:p14="http://schemas.microsoft.com/office/powerpoint/2010/main" val="30598732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31C0ED8-B6C7-B2C0-F449-1AE2F0047337}"/>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A01F979-5FC0-7607-22DF-B4687511E12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CD19689B-F683-4181-678E-DF7E9626662C}"/>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6C2ABA53-686B-72F3-8190-2BA608CF09A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C3A95B-261A-6747-3CB3-AFE5E51EC186}"/>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3135946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BB31AD-6036-1EBC-08AE-15C541009189}"/>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35F0825B-BDAB-2820-4EDF-061654605D12}"/>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AF48541C-8567-043E-C5E5-5079ADB496A1}"/>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CC1D6C90-A08F-4077-5D69-6EBFD2D80129}"/>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DB2AC56-6F08-E35F-AE38-3C8EA4968CE1}"/>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605780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835E26-E7D2-326B-EC8F-6433A76B1CBC}"/>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9A057821-531C-E3EA-5678-58D95321A26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7C66E4DC-8BFC-231C-BC8A-3CBB0B21DD7B}"/>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D2DFA721-B263-7679-6DBF-F1893FE8200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E00B914B-A288-3CF5-9F45-E004A32C609C}"/>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3479612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34F011-3A75-D421-71BC-6B0762B1000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8B2084A-1965-11B0-F785-8F49AFF6088A}"/>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9E320663-3D25-9137-4AF3-8700F2139E36}"/>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F5A7812C-63DF-300D-6931-3D3143D1CC21}"/>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6" name="Espace réservé du pied de page 5">
            <a:extLst>
              <a:ext uri="{FF2B5EF4-FFF2-40B4-BE49-F238E27FC236}">
                <a16:creationId xmlns:a16="http://schemas.microsoft.com/office/drawing/2014/main" id="{BC68C744-215C-122D-4142-D9BEFCACA68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83F6ACD-25BB-3281-0212-64F2C44A5447}"/>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2919858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D8BD5EA-7956-E5A3-2C71-5C6CDE7DA7C3}"/>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A90E30D-B52E-327B-7A46-DD7AD9C21A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2F8B7B6-EFC3-BE83-99CD-E6CF5B33546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D74CDF0F-70DC-5618-C2B3-7149943222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38946CF-075D-6267-1F22-443260A602C3}"/>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3E5CB1A-D43F-2F73-66A2-DB358D427DCB}"/>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8" name="Espace réservé du pied de page 7">
            <a:extLst>
              <a:ext uri="{FF2B5EF4-FFF2-40B4-BE49-F238E27FC236}">
                <a16:creationId xmlns:a16="http://schemas.microsoft.com/office/drawing/2014/main" id="{D1A65AEB-5213-3FF5-8757-431661F53D8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E99D3C3-2F57-4A37-1645-CCF8013820AC}"/>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428234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EDBB0F-8954-06AB-17B2-0B64A62D5FAF}"/>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DB55ADBF-F909-DFB8-5E46-9614026009DA}"/>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4" name="Espace réservé du pied de page 3">
            <a:extLst>
              <a:ext uri="{FF2B5EF4-FFF2-40B4-BE49-F238E27FC236}">
                <a16:creationId xmlns:a16="http://schemas.microsoft.com/office/drawing/2014/main" id="{DD9461E6-8988-2DAA-7330-3962E7C3A86F}"/>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1B5D5835-F4A5-AE22-FE37-13F8ACF6AAE5}"/>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1001083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0F60F41C-F637-F350-51CD-DE921B94FA26}"/>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3" name="Espace réservé du pied de page 2">
            <a:extLst>
              <a:ext uri="{FF2B5EF4-FFF2-40B4-BE49-F238E27FC236}">
                <a16:creationId xmlns:a16="http://schemas.microsoft.com/office/drawing/2014/main" id="{1C14BD7C-43C9-6B5F-09C4-63ADFCE7FDE8}"/>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44EDBD2-AB50-04E9-00B8-07A331E676A5}"/>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6817343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4762BB-9CEC-B212-CB0B-300309BF100D}"/>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E3563065-0EFD-4C84-0158-23CDFE21F6F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13A6772-589D-3010-B7EE-9CA5210558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FEBC33C-84F5-0642-683C-4C794CA63D83}"/>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6" name="Espace réservé du pied de page 5">
            <a:extLst>
              <a:ext uri="{FF2B5EF4-FFF2-40B4-BE49-F238E27FC236}">
                <a16:creationId xmlns:a16="http://schemas.microsoft.com/office/drawing/2014/main" id="{E7C1330D-C2B1-F3CB-720B-D4BACF171E90}"/>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2DBC564-6674-CE67-AC14-2483AE8BA2DB}"/>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84336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86F709-D822-939F-FC4B-302D250D6871}"/>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99FA6FAB-4D77-2A93-4DE2-2D22E7F378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C38FD395-EF19-0614-9BCC-7CF3008897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3C3EFE8-5CB9-11D4-5095-3ADC5C02D11C}"/>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6" name="Espace réservé du pied de page 5">
            <a:extLst>
              <a:ext uri="{FF2B5EF4-FFF2-40B4-BE49-F238E27FC236}">
                <a16:creationId xmlns:a16="http://schemas.microsoft.com/office/drawing/2014/main" id="{F79230A1-D84B-0CCC-1FE9-995B79A1D652}"/>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DA50827-29BA-F8E4-09D8-3BF1BC339B53}"/>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38769028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0AF511D-A2AF-C119-5AF1-25693954058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5485A677-1572-38EF-8CCC-AAFFE0DDF280}"/>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54F634D-9FBA-5F2B-56B8-B5B1F445323E}"/>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C3D80B70-FE5E-7C9C-B1F4-D5816842947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52F0ABD-DC2E-86D7-1780-196EEEC65C03}"/>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4172819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C7D4842F-012C-EE4D-35C0-41258F0B16A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CD7E8FFF-413C-32D4-428D-78039D306DDD}"/>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E1B2229-131E-98F8-9AAC-BFCCB2D7C033}"/>
              </a:ext>
            </a:extLst>
          </p:cNvPr>
          <p:cNvSpPr>
            <a:spLocks noGrp="1"/>
          </p:cNvSpPr>
          <p:nvPr>
            <p:ph type="dt" sz="half" idx="10"/>
          </p:nvPr>
        </p:nvSpPr>
        <p:spPr/>
        <p:txBody>
          <a:body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0C79A49F-0828-EE49-AC22-E4C8300928F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F1460E86-C9B8-A5C2-D598-B3D122DC8AB1}"/>
              </a:ext>
            </a:extLst>
          </p:cNvPr>
          <p:cNvSpPr>
            <a:spLocks noGrp="1"/>
          </p:cNvSpPr>
          <p:nvPr>
            <p:ph type="sldNum" sz="quarter" idx="12"/>
          </p:nvPr>
        </p:nvSpPr>
        <p:spPr/>
        <p:txBody>
          <a:bodyPr/>
          <a:lstStyle/>
          <a:p>
            <a:fld id="{90A0D674-F79D-4A72-BCB2-DDAD1B42794B}" type="slidenum">
              <a:rPr lang="fr-FR" smtClean="0"/>
              <a:t>‹N°›</a:t>
            </a:fld>
            <a:endParaRPr lang="fr-FR"/>
          </a:p>
        </p:txBody>
      </p:sp>
    </p:spTree>
    <p:extLst>
      <p:ext uri="{BB962C8B-B14F-4D97-AF65-F5344CB8AC3E}">
        <p14:creationId xmlns:p14="http://schemas.microsoft.com/office/powerpoint/2010/main" val="132850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B337764-B6F5-ED58-62D9-D7A83FAD149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DF6DBAFF-37C6-4608-1313-047F7822CE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E3A4852-382D-3B40-479D-2100AD701C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8A6E101-0A8D-4BD8-822B-706AD8A87C19}" type="datetimeFigureOut">
              <a:rPr lang="fr-FR" smtClean="0"/>
              <a:t>27/04/2025</a:t>
            </a:fld>
            <a:endParaRPr lang="fr-FR"/>
          </a:p>
        </p:txBody>
      </p:sp>
      <p:sp>
        <p:nvSpPr>
          <p:cNvPr id="5" name="Espace réservé du pied de page 4">
            <a:extLst>
              <a:ext uri="{FF2B5EF4-FFF2-40B4-BE49-F238E27FC236}">
                <a16:creationId xmlns:a16="http://schemas.microsoft.com/office/drawing/2014/main" id="{D79C27C3-AEB8-ECB3-3C06-E0D48B6AA0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F7422F9F-4C84-E330-FBE4-6EDE358F5A0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A0D674-F79D-4A72-BCB2-DDAD1B42794B}" type="slidenum">
              <a:rPr lang="fr-FR" smtClean="0"/>
              <a:t>‹N°›</a:t>
            </a:fld>
            <a:endParaRPr lang="fr-FR"/>
          </a:p>
        </p:txBody>
      </p:sp>
    </p:spTree>
    <p:extLst>
      <p:ext uri="{BB962C8B-B14F-4D97-AF65-F5344CB8AC3E}">
        <p14:creationId xmlns:p14="http://schemas.microsoft.com/office/powerpoint/2010/main" val="3332556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6C1AC1A-0414-EFDB-76CE-726BE69E196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CC07320-C2CA-4E29-8481-9D9E143C77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 7" descr="Une image contenant ciel, texte, bâtiment, gratte-ciel&#10;&#10;Le contenu généré par l’IA peut être incorrect.">
            <a:extLst>
              <a:ext uri="{FF2B5EF4-FFF2-40B4-BE49-F238E27FC236}">
                <a16:creationId xmlns:a16="http://schemas.microsoft.com/office/drawing/2014/main" id="{F9F2C177-E712-2CCF-C6C5-7146D61E734F}"/>
              </a:ext>
            </a:extLst>
          </p:cNvPr>
          <p:cNvPicPr>
            <a:picLocks noChangeAspect="1"/>
          </p:cNvPicPr>
          <p:nvPr/>
        </p:nvPicPr>
        <p:blipFill>
          <a:blip r:embed="rId3"/>
          <a:srcRect b="5436"/>
          <a:stretch/>
        </p:blipFill>
        <p:spPr>
          <a:xfrm>
            <a:off x="2513875" y="10"/>
            <a:ext cx="9669642" cy="6857990"/>
          </a:xfrm>
          <a:prstGeom prst="rect">
            <a:avLst/>
          </a:prstGeom>
        </p:spPr>
      </p:pic>
      <p:sp>
        <p:nvSpPr>
          <p:cNvPr id="15" name="Rectangle 14">
            <a:extLst>
              <a:ext uri="{FF2B5EF4-FFF2-40B4-BE49-F238E27FC236}">
                <a16:creationId xmlns:a16="http://schemas.microsoft.com/office/drawing/2014/main" id="{178FB36B-5BFE-42CA-BC60-1115E0D95E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7066978"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4D0E032B-5B12-E8F0-0C39-7B032401574D}"/>
              </a:ext>
            </a:extLst>
          </p:cNvPr>
          <p:cNvSpPr>
            <a:spLocks noGrp="1"/>
          </p:cNvSpPr>
          <p:nvPr>
            <p:ph type="ctrTitle"/>
          </p:nvPr>
        </p:nvSpPr>
        <p:spPr>
          <a:xfrm>
            <a:off x="121920" y="1493503"/>
            <a:ext cx="3973385" cy="2728552"/>
          </a:xfrm>
          <a:noFill/>
        </p:spPr>
        <p:txBody>
          <a:bodyPr>
            <a:normAutofit/>
          </a:bodyPr>
          <a:lstStyle/>
          <a:p>
            <a:pPr algn="l"/>
            <a:r>
              <a:rPr lang="fr-FR" sz="4400" dirty="0"/>
              <a:t>Anticipez les besoins en consommations de bâtiments</a:t>
            </a:r>
          </a:p>
        </p:txBody>
      </p:sp>
      <p:sp>
        <p:nvSpPr>
          <p:cNvPr id="3" name="Sous-titre 2">
            <a:extLst>
              <a:ext uri="{FF2B5EF4-FFF2-40B4-BE49-F238E27FC236}">
                <a16:creationId xmlns:a16="http://schemas.microsoft.com/office/drawing/2014/main" id="{58CFA501-FA4E-4D08-02C9-C742AF0576FF}"/>
              </a:ext>
            </a:extLst>
          </p:cNvPr>
          <p:cNvSpPr>
            <a:spLocks noGrp="1"/>
          </p:cNvSpPr>
          <p:nvPr>
            <p:ph type="subTitle" idx="1"/>
          </p:nvPr>
        </p:nvSpPr>
        <p:spPr>
          <a:xfrm>
            <a:off x="121920" y="5034055"/>
            <a:ext cx="2303438" cy="622300"/>
          </a:xfrm>
          <a:noFill/>
        </p:spPr>
        <p:txBody>
          <a:bodyPr>
            <a:normAutofit/>
          </a:bodyPr>
          <a:lstStyle/>
          <a:p>
            <a:pPr algn="l"/>
            <a:r>
              <a:rPr lang="fr-FR" sz="1400" dirty="0"/>
              <a:t>Guillaume Rooman</a:t>
            </a:r>
          </a:p>
          <a:p>
            <a:pPr algn="l"/>
            <a:r>
              <a:rPr lang="fr-FR" sz="1400" dirty="0"/>
              <a:t>Data </a:t>
            </a:r>
            <a:r>
              <a:rPr lang="fr-FR" sz="1400" dirty="0" err="1"/>
              <a:t>Scientist</a:t>
            </a:r>
            <a:r>
              <a:rPr lang="fr-FR" sz="1400" dirty="0"/>
              <a:t> pour la ville</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CD432630-7333-6FF2-4E53-5BB44079AF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920" y="6146302"/>
            <a:ext cx="1875142" cy="622300"/>
          </a:xfrm>
          <a:prstGeom prst="rect">
            <a:avLst/>
          </a:prstGeom>
        </p:spPr>
      </p:pic>
      <p:sp>
        <p:nvSpPr>
          <p:cNvPr id="6" name="ZoneTexte 5">
            <a:extLst>
              <a:ext uri="{FF2B5EF4-FFF2-40B4-BE49-F238E27FC236}">
                <a16:creationId xmlns:a16="http://schemas.microsoft.com/office/drawing/2014/main" id="{F7274E52-417F-286D-DE2D-C5F4D2FD1BA5}"/>
              </a:ext>
            </a:extLst>
          </p:cNvPr>
          <p:cNvSpPr txBox="1"/>
          <p:nvPr/>
        </p:nvSpPr>
        <p:spPr>
          <a:xfrm>
            <a:off x="48022" y="4970556"/>
            <a:ext cx="12180468" cy="685799"/>
          </a:xfrm>
          <a:prstGeom prst="rect">
            <a:avLst/>
          </a:prstGeom>
          <a:solidFill>
            <a:srgbClr val="000000">
              <a:alpha val="50000"/>
            </a:srgbClr>
          </a:solidFill>
          <a:ln>
            <a:noFill/>
          </a:ln>
        </p:spPr>
        <p:txBody>
          <a:bodyPr wrap="square">
            <a:noAutofit/>
          </a:bodyPr>
          <a:lstStyle/>
          <a:p>
            <a:pPr algn="ctr">
              <a:spcAft>
                <a:spcPts val="600"/>
              </a:spcAft>
            </a:pPr>
            <a:r>
              <a:rPr lang="fr-FR" sz="1300" dirty="0">
                <a:solidFill>
                  <a:srgbClr val="FFFFFF"/>
                </a:solidFill>
              </a:rPr>
              <a:t>Objectif 0 carbone en 2050</a:t>
            </a:r>
          </a:p>
        </p:txBody>
      </p:sp>
    </p:spTree>
    <p:extLst>
      <p:ext uri="{BB962C8B-B14F-4D97-AF65-F5344CB8AC3E}">
        <p14:creationId xmlns:p14="http://schemas.microsoft.com/office/powerpoint/2010/main" val="13161261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F0577B-391A-1DFE-22C4-017A02E47B0C}"/>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DD3966F0-FFF7-E3C5-3C4F-98A9229E44AC}"/>
              </a:ext>
            </a:extLst>
          </p:cNvPr>
          <p:cNvSpPr>
            <a:spLocks noGrp="1"/>
          </p:cNvSpPr>
          <p:nvPr>
            <p:ph type="ctrTitle"/>
          </p:nvPr>
        </p:nvSpPr>
        <p:spPr>
          <a:xfrm>
            <a:off x="586478" y="1683756"/>
            <a:ext cx="3115265" cy="2396359"/>
          </a:xfrm>
        </p:spPr>
        <p:txBody>
          <a:bodyPr vert="horz" lIns="91440" tIns="45720" rIns="91440" bIns="45720" rtlCol="0" anchor="b">
            <a:normAutofit/>
          </a:bodyPr>
          <a:lstStyle/>
          <a:p>
            <a:pPr algn="r"/>
            <a:r>
              <a:rPr lang="en-US" sz="4000" kern="1200" dirty="0" err="1">
                <a:solidFill>
                  <a:srgbClr val="FFFFFF"/>
                </a:solidFill>
                <a:latin typeface="+mj-lt"/>
                <a:ea typeface="+mj-ea"/>
                <a:cs typeface="+mj-cs"/>
              </a:rPr>
              <a:t>Sommaire</a:t>
            </a:r>
            <a:endParaRPr lang="en-US" sz="4000" kern="1200" dirty="0">
              <a:solidFill>
                <a:srgbClr val="FFFFFF"/>
              </a:solidFill>
              <a:latin typeface="+mj-lt"/>
              <a:ea typeface="+mj-ea"/>
              <a:cs typeface="+mj-cs"/>
            </a:endParaRP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59705697-59BF-33B9-5C4A-186CCB5A6F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graphicFrame>
        <p:nvGraphicFramePr>
          <p:cNvPr id="10" name="Espace réservé du contenu 2">
            <a:extLst>
              <a:ext uri="{FF2B5EF4-FFF2-40B4-BE49-F238E27FC236}">
                <a16:creationId xmlns:a16="http://schemas.microsoft.com/office/drawing/2014/main" id="{4A27A2D7-CD70-0A04-861F-DB4236F0A849}"/>
              </a:ext>
            </a:extLst>
          </p:cNvPr>
          <p:cNvGraphicFramePr>
            <a:graphicFrameLocks/>
          </p:cNvGraphicFramePr>
          <p:nvPr>
            <p:extLst>
              <p:ext uri="{D42A27DB-BD31-4B8C-83A1-F6EECF244321}">
                <p14:modId xmlns:p14="http://schemas.microsoft.com/office/powerpoint/2010/main" val="142115110"/>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6697650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3740FD-A1BE-15B4-9A92-4678C8E35250}"/>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Image 8" descr="Une image contenant intérieur, petit appareil électroménager, léger, blender&#10;&#10;Le contenu généré par l’IA peut être incorrect.">
            <a:extLst>
              <a:ext uri="{FF2B5EF4-FFF2-40B4-BE49-F238E27FC236}">
                <a16:creationId xmlns:a16="http://schemas.microsoft.com/office/drawing/2014/main" id="{7AFE19D9-32D6-BE91-036D-B1D91F7F2B14}"/>
              </a:ext>
            </a:extLst>
          </p:cNvPr>
          <p:cNvPicPr>
            <a:picLocks noChangeAspect="1"/>
          </p:cNvPicPr>
          <p:nvPr/>
        </p:nvPicPr>
        <p:blipFill>
          <a:blip r:embed="rId3">
            <a:alphaModFix amt="50000"/>
          </a:blip>
          <a:srcRect t="13062" r="-1" b="11918"/>
          <a:stretch/>
        </p:blipFill>
        <p:spPr>
          <a:xfrm>
            <a:off x="20" y="10"/>
            <a:ext cx="12188930" cy="6857990"/>
          </a:xfrm>
          <a:prstGeom prst="rect">
            <a:avLst/>
          </a:prstGeom>
        </p:spPr>
      </p:pic>
      <p:sp>
        <p:nvSpPr>
          <p:cNvPr id="2" name="Titre 1">
            <a:extLst>
              <a:ext uri="{FF2B5EF4-FFF2-40B4-BE49-F238E27FC236}">
                <a16:creationId xmlns:a16="http://schemas.microsoft.com/office/drawing/2014/main" id="{FD3699CD-0378-5E16-60F9-0E4D97DFFD63}"/>
              </a:ext>
            </a:extLst>
          </p:cNvPr>
          <p:cNvSpPr>
            <a:spLocks noGrp="1"/>
          </p:cNvSpPr>
          <p:nvPr>
            <p:ph type="ctrTitle"/>
          </p:nvPr>
        </p:nvSpPr>
        <p:spPr>
          <a:xfrm>
            <a:off x="1524000" y="1122363"/>
            <a:ext cx="9144000" cy="3063240"/>
          </a:xfrm>
        </p:spPr>
        <p:txBody>
          <a:bodyPr>
            <a:normAutofit/>
          </a:bodyPr>
          <a:lstStyle/>
          <a:p>
            <a:r>
              <a:rPr lang="fr-FR" sz="6600">
                <a:solidFill>
                  <a:schemeClr val="bg1"/>
                </a:solidFill>
              </a:rPr>
              <a:t>Introduction</a:t>
            </a:r>
          </a:p>
        </p:txBody>
      </p:sp>
      <p:sp>
        <p:nvSpPr>
          <p:cNvPr id="21"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Image 4" descr="Une image contenant logo, Police, symbole, Graphique&#10;&#10;Le contenu généré par l’IA peut être incorrect.">
            <a:extLst>
              <a:ext uri="{FF2B5EF4-FFF2-40B4-BE49-F238E27FC236}">
                <a16:creationId xmlns:a16="http://schemas.microsoft.com/office/drawing/2014/main" id="{4D370EC4-81AC-02B7-CB42-F0EF95F0219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Tree>
    <p:extLst>
      <p:ext uri="{BB962C8B-B14F-4D97-AF65-F5344CB8AC3E}">
        <p14:creationId xmlns:p14="http://schemas.microsoft.com/office/powerpoint/2010/main" val="3833044386"/>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4AA4775-F26C-C674-E359-5EF0FD1C5DC7}"/>
              </a:ext>
            </a:extLst>
          </p:cNvPr>
          <p:cNvSpPr>
            <a:spLocks noGrp="1"/>
          </p:cNvSpPr>
          <p:nvPr>
            <p:ph type="title"/>
          </p:nvPr>
        </p:nvSpPr>
        <p:spPr>
          <a:xfrm>
            <a:off x="699714" y="248038"/>
            <a:ext cx="4862886" cy="1159200"/>
          </a:xfrm>
        </p:spPr>
        <p:txBody>
          <a:bodyPr vert="horz" lIns="91440" tIns="45720" rIns="91440" bIns="45720" rtlCol="0" anchor="ctr">
            <a:normAutofit/>
          </a:bodyPr>
          <a:lstStyle/>
          <a:p>
            <a:r>
              <a:rPr lang="en-US" sz="3600" kern="1200" dirty="0">
                <a:solidFill>
                  <a:srgbClr val="FFFFFF"/>
                </a:solidFill>
                <a:latin typeface="+mj-lt"/>
                <a:ea typeface="+mj-ea"/>
                <a:cs typeface="+mj-cs"/>
              </a:rPr>
              <a:t>Jeu : initial VS </a:t>
            </a:r>
            <a:r>
              <a:rPr lang="en-US" sz="3600" b="1" kern="1200" dirty="0" err="1">
                <a:solidFill>
                  <a:srgbClr val="FFFFFF"/>
                </a:solidFill>
                <a:latin typeface="+mj-lt"/>
                <a:ea typeface="+mj-ea"/>
                <a:cs typeface="+mj-cs"/>
              </a:rPr>
              <a:t>utilisé</a:t>
            </a:r>
            <a:r>
              <a:rPr lang="en-US" sz="3600" kern="1200" dirty="0">
                <a:solidFill>
                  <a:srgbClr val="FFFFFF"/>
                </a:solidFill>
                <a:latin typeface="+mj-lt"/>
                <a:ea typeface="+mj-ea"/>
                <a:cs typeface="+mj-cs"/>
              </a:rPr>
              <a:t> </a:t>
            </a:r>
          </a:p>
        </p:txBody>
      </p:sp>
      <p:pic>
        <p:nvPicPr>
          <p:cNvPr id="5" name="Image 4">
            <a:extLst>
              <a:ext uri="{FF2B5EF4-FFF2-40B4-BE49-F238E27FC236}">
                <a16:creationId xmlns:a16="http://schemas.microsoft.com/office/drawing/2014/main" id="{E6D580F4-09DD-2D81-05DF-1568C44A2E0A}"/>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a:stretch/>
        </p:blipFill>
        <p:spPr>
          <a:xfrm>
            <a:off x="466900" y="1822349"/>
            <a:ext cx="11277425" cy="4790266"/>
          </a:xfrm>
          <a:prstGeom prst="rect">
            <a:avLst/>
          </a:prstGeom>
        </p:spPr>
      </p:pic>
      <p:sp>
        <p:nvSpPr>
          <p:cNvPr id="6" name="ZoneTexte 5">
            <a:extLst>
              <a:ext uri="{FF2B5EF4-FFF2-40B4-BE49-F238E27FC236}">
                <a16:creationId xmlns:a16="http://schemas.microsoft.com/office/drawing/2014/main" id="{6EB992DC-4D54-4D8B-959B-603362229F23}"/>
              </a:ext>
            </a:extLst>
          </p:cNvPr>
          <p:cNvSpPr txBox="1"/>
          <p:nvPr/>
        </p:nvSpPr>
        <p:spPr>
          <a:xfrm>
            <a:off x="1441299" y="2499541"/>
            <a:ext cx="1575135" cy="646331"/>
          </a:xfrm>
          <a:prstGeom prst="rect">
            <a:avLst/>
          </a:prstGeom>
          <a:noFill/>
        </p:spPr>
        <p:txBody>
          <a:bodyPr wrap="square" rtlCol="0">
            <a:spAutoFit/>
          </a:bodyPr>
          <a:lstStyle/>
          <a:p>
            <a:r>
              <a:rPr lang="fr-FR" dirty="0"/>
              <a:t>3376 lignes</a:t>
            </a:r>
          </a:p>
          <a:p>
            <a:r>
              <a:rPr lang="fr-FR" dirty="0"/>
              <a:t>46 colonnes</a:t>
            </a:r>
          </a:p>
        </p:txBody>
      </p:sp>
      <p:cxnSp>
        <p:nvCxnSpPr>
          <p:cNvPr id="8" name="Connecteur droit 7">
            <a:extLst>
              <a:ext uri="{FF2B5EF4-FFF2-40B4-BE49-F238E27FC236}">
                <a16:creationId xmlns:a16="http://schemas.microsoft.com/office/drawing/2014/main" id="{BB52AAB6-7E5D-B8D4-1314-40C4771DCA68}"/>
              </a:ext>
            </a:extLst>
          </p:cNvPr>
          <p:cNvCxnSpPr/>
          <p:nvPr/>
        </p:nvCxnSpPr>
        <p:spPr>
          <a:xfrm>
            <a:off x="2349335" y="4825854"/>
            <a:ext cx="0" cy="1191491"/>
          </a:xfrm>
          <a:prstGeom prst="line">
            <a:avLst/>
          </a:prstGeom>
        </p:spPr>
        <p:style>
          <a:lnRef idx="2">
            <a:schemeClr val="accent2"/>
          </a:lnRef>
          <a:fillRef idx="0">
            <a:schemeClr val="accent2"/>
          </a:fillRef>
          <a:effectRef idx="1">
            <a:schemeClr val="accent2"/>
          </a:effectRef>
          <a:fontRef idx="minor">
            <a:schemeClr val="tx1"/>
          </a:fontRef>
        </p:style>
      </p:cxnSp>
      <p:sp>
        <p:nvSpPr>
          <p:cNvPr id="9" name="ZoneTexte 8">
            <a:extLst>
              <a:ext uri="{FF2B5EF4-FFF2-40B4-BE49-F238E27FC236}">
                <a16:creationId xmlns:a16="http://schemas.microsoft.com/office/drawing/2014/main" id="{1B5CD2E6-52BF-063A-6D73-E720A81CC1A2}"/>
              </a:ext>
            </a:extLst>
          </p:cNvPr>
          <p:cNvSpPr txBox="1"/>
          <p:nvPr/>
        </p:nvSpPr>
        <p:spPr>
          <a:xfrm>
            <a:off x="3724211" y="2361041"/>
            <a:ext cx="1575138" cy="923330"/>
          </a:xfrm>
          <a:prstGeom prst="rect">
            <a:avLst/>
          </a:prstGeom>
          <a:noFill/>
        </p:spPr>
        <p:txBody>
          <a:bodyPr wrap="square" rtlCol="0">
            <a:spAutoFit/>
          </a:bodyPr>
          <a:lstStyle/>
          <a:p>
            <a:r>
              <a:rPr lang="fr-FR" b="1" dirty="0"/>
              <a:t>Compliant :</a:t>
            </a:r>
          </a:p>
          <a:p>
            <a:r>
              <a:rPr lang="fr-FR" b="1" dirty="0"/>
              <a:t>1514 lignes</a:t>
            </a:r>
          </a:p>
          <a:p>
            <a:r>
              <a:rPr lang="fr-FR" b="1" dirty="0"/>
              <a:t>42 colonnes</a:t>
            </a:r>
          </a:p>
        </p:txBody>
      </p:sp>
      <p:sp>
        <p:nvSpPr>
          <p:cNvPr id="11" name="Ellipse 10">
            <a:extLst>
              <a:ext uri="{FF2B5EF4-FFF2-40B4-BE49-F238E27FC236}">
                <a16:creationId xmlns:a16="http://schemas.microsoft.com/office/drawing/2014/main" id="{A26E008B-9055-001A-8BE9-C65133070142}"/>
              </a:ext>
            </a:extLst>
          </p:cNvPr>
          <p:cNvSpPr/>
          <p:nvPr/>
        </p:nvSpPr>
        <p:spPr>
          <a:xfrm rot="2807229">
            <a:off x="6623426" y="5416506"/>
            <a:ext cx="228600" cy="107632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noFill/>
            </a:endParaRPr>
          </a:p>
        </p:txBody>
      </p:sp>
      <p:sp>
        <p:nvSpPr>
          <p:cNvPr id="13" name="Ellipse 12">
            <a:extLst>
              <a:ext uri="{FF2B5EF4-FFF2-40B4-BE49-F238E27FC236}">
                <a16:creationId xmlns:a16="http://schemas.microsoft.com/office/drawing/2014/main" id="{C8A73E2B-2910-3F26-3501-4276D970ED43}"/>
              </a:ext>
            </a:extLst>
          </p:cNvPr>
          <p:cNvSpPr/>
          <p:nvPr/>
        </p:nvSpPr>
        <p:spPr>
          <a:xfrm rot="2807229">
            <a:off x="6221834" y="5416508"/>
            <a:ext cx="228600" cy="1076325"/>
          </a:xfrm>
          <a:prstGeom prst="ellipse">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noFill/>
            </a:endParaRPr>
          </a:p>
        </p:txBody>
      </p:sp>
    </p:spTree>
    <p:extLst>
      <p:ext uri="{BB962C8B-B14F-4D97-AF65-F5344CB8AC3E}">
        <p14:creationId xmlns:p14="http://schemas.microsoft.com/office/powerpoint/2010/main" val="90058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017DE7B-448F-E53B-9B9E-A1974DF9F488}"/>
            </a:ext>
          </a:extLst>
        </p:cNvPr>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22" name="Rectangle 21">
            <a:extLst>
              <a:ext uri="{FF2B5EF4-FFF2-40B4-BE49-F238E27FC236}">
                <a16:creationId xmlns:a16="http://schemas.microsoft.com/office/drawing/2014/main" id="{AB5E08C4-8CDD-4623-A5B8-E998C6DEE3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492"/>
            <a:ext cx="12191998" cy="1575955"/>
          </a:xfrm>
          <a:prstGeom prst="rect">
            <a:avLst/>
          </a:prstGeom>
          <a:gradFill>
            <a:gsLst>
              <a:gs pos="0">
                <a:schemeClr val="accent1">
                  <a:lumMod val="50000"/>
                </a:scheme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15F33878-D502-4FFA-8ACE-F2AECDB2A2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35"/>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D3539FEE-81D3-4406-802E-60B20B16F4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8" y="-5307777"/>
            <a:ext cx="1576446" cy="12192001"/>
          </a:xfrm>
          <a:prstGeom prst="rect">
            <a:avLst/>
          </a:prstGeom>
          <a:gradFill>
            <a:gsLst>
              <a:gs pos="16000">
                <a:srgbClr val="000000">
                  <a:alpha val="0"/>
                </a:srgbClr>
              </a:gs>
              <a:gs pos="99000">
                <a:srgbClr val="000000">
                  <a:alpha val="87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DC701763-729E-462F-A5A8-E0DEFEB1E2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986"/>
            <a:ext cx="4303422" cy="1575461"/>
          </a:xfrm>
          <a:prstGeom prst="rect">
            <a:avLst/>
          </a:prstGeom>
          <a:gradFill>
            <a:gsLst>
              <a:gs pos="0">
                <a:schemeClr val="accent1">
                  <a:alpha val="17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ZoneTexte 14">
            <a:extLst>
              <a:ext uri="{FF2B5EF4-FFF2-40B4-BE49-F238E27FC236}">
                <a16:creationId xmlns:a16="http://schemas.microsoft.com/office/drawing/2014/main" id="{2241CD55-566B-0498-585B-BA7C4CC965B3}"/>
              </a:ext>
            </a:extLst>
          </p:cNvPr>
          <p:cNvSpPr txBox="1"/>
          <p:nvPr/>
        </p:nvSpPr>
        <p:spPr>
          <a:xfrm>
            <a:off x="699714" y="353160"/>
            <a:ext cx="7091300" cy="898581"/>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dirty="0" err="1">
                <a:solidFill>
                  <a:srgbClr val="FFFFFF"/>
                </a:solidFill>
                <a:latin typeface="+mj-lt"/>
                <a:ea typeface="+mj-ea"/>
                <a:cs typeface="+mj-cs"/>
              </a:rPr>
              <a:t>Traitement</a:t>
            </a:r>
            <a:r>
              <a:rPr lang="en-US" sz="4000" dirty="0">
                <a:solidFill>
                  <a:srgbClr val="FFFFFF"/>
                </a:solidFill>
                <a:latin typeface="+mj-lt"/>
                <a:ea typeface="+mj-ea"/>
                <a:cs typeface="+mj-cs"/>
              </a:rPr>
              <a:t> des NA</a:t>
            </a:r>
          </a:p>
        </p:txBody>
      </p:sp>
      <p:pic>
        <p:nvPicPr>
          <p:cNvPr id="7" name="Image 6" descr="Une image contenant texte, diagramme, capture d’écran, ligne&#10;&#10;Le contenu généré par l’IA peut être incorrect.">
            <a:extLst>
              <a:ext uri="{FF2B5EF4-FFF2-40B4-BE49-F238E27FC236}">
                <a16:creationId xmlns:a16="http://schemas.microsoft.com/office/drawing/2014/main" id="{F2F3AB3F-CE6E-A4A4-2BBB-5270970EF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020" y="1709307"/>
            <a:ext cx="11801960" cy="5015833"/>
          </a:xfrm>
          <a:prstGeom prst="rect">
            <a:avLst/>
          </a:prstGeom>
        </p:spPr>
      </p:pic>
      <p:pic>
        <p:nvPicPr>
          <p:cNvPr id="5" name="Image 4" descr="Une image contenant logo, Police, symbole, Graphique&#10;&#10;Le contenu généré par l’IA peut être incorrect.">
            <a:extLst>
              <a:ext uri="{FF2B5EF4-FFF2-40B4-BE49-F238E27FC236}">
                <a16:creationId xmlns:a16="http://schemas.microsoft.com/office/drawing/2014/main" id="{E91F0BA2-EA12-0958-1C7E-0E8C614C6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16" name="Image 15" descr="Une image contenant texte, capture d’écran, Police&#10;&#10;Le contenu généré par l’IA peut être incorrect.">
            <a:extLst>
              <a:ext uri="{FF2B5EF4-FFF2-40B4-BE49-F238E27FC236}">
                <a16:creationId xmlns:a16="http://schemas.microsoft.com/office/drawing/2014/main" id="{D1A5A35B-22A9-6AEF-C644-10D54C80085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60448" y="2424854"/>
            <a:ext cx="6927681" cy="2511284"/>
          </a:xfrm>
          <a:prstGeom prst="rect">
            <a:avLst/>
          </a:prstGeom>
        </p:spPr>
      </p:pic>
    </p:spTree>
    <p:extLst>
      <p:ext uri="{BB962C8B-B14F-4D97-AF65-F5344CB8AC3E}">
        <p14:creationId xmlns:p14="http://schemas.microsoft.com/office/powerpoint/2010/main" val="4170469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7316F0-4341-9D01-1AC4-DDA0FD7D5C63}"/>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re 1">
            <a:extLst>
              <a:ext uri="{FF2B5EF4-FFF2-40B4-BE49-F238E27FC236}">
                <a16:creationId xmlns:a16="http://schemas.microsoft.com/office/drawing/2014/main" id="{02A97AAE-FA61-E46E-CF55-836DF58A913F}"/>
              </a:ext>
            </a:extLst>
          </p:cNvPr>
          <p:cNvSpPr>
            <a:spLocks noGrp="1"/>
          </p:cNvSpPr>
          <p:nvPr>
            <p:ph type="ctrTitle"/>
          </p:nvPr>
        </p:nvSpPr>
        <p:spPr>
          <a:xfrm>
            <a:off x="578888" y="520340"/>
            <a:ext cx="2021437" cy="697660"/>
          </a:xfrm>
        </p:spPr>
        <p:txBody>
          <a:bodyPr vert="horz" lIns="91440" tIns="45720" rIns="91440" bIns="45720" rtlCol="0" anchor="t">
            <a:normAutofit/>
          </a:bodyPr>
          <a:lstStyle/>
          <a:p>
            <a:pPr algn="l"/>
            <a:r>
              <a:rPr lang="en-US" sz="4000" kern="1200" dirty="0">
                <a:solidFill>
                  <a:srgbClr val="FFFFFF"/>
                </a:solidFill>
                <a:latin typeface="+mj-lt"/>
                <a:ea typeface="+mj-ea"/>
                <a:cs typeface="+mj-cs"/>
              </a:rPr>
              <a:t>Outliers</a:t>
            </a:r>
          </a:p>
        </p:txBody>
      </p:sp>
      <p:pic>
        <p:nvPicPr>
          <p:cNvPr id="6" name="Image 5" descr="Une image contenant texte, menu, capture d’écran, Police&#10;&#10;Le contenu généré par l’IA peut être incorrect.">
            <a:extLst>
              <a:ext uri="{FF2B5EF4-FFF2-40B4-BE49-F238E27FC236}">
                <a16:creationId xmlns:a16="http://schemas.microsoft.com/office/drawing/2014/main" id="{862E82A7-0FB8-1096-51CE-D4B5B0E0C122}"/>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tretch>
            <a:fillRect/>
          </a:stretch>
        </p:blipFill>
        <p:spPr>
          <a:xfrm>
            <a:off x="4333513" y="119721"/>
            <a:ext cx="7563576" cy="6618128"/>
          </a:xfrm>
          <a:prstGeom prst="rect">
            <a:avLst/>
          </a:prstGeom>
        </p:spPr>
      </p:pic>
      <p:sp>
        <p:nvSpPr>
          <p:cNvPr id="7" name="Rectangle 6">
            <a:extLst>
              <a:ext uri="{FF2B5EF4-FFF2-40B4-BE49-F238E27FC236}">
                <a16:creationId xmlns:a16="http://schemas.microsoft.com/office/drawing/2014/main" id="{8E983A36-E366-2C96-0EC7-FBCFD89849F4}"/>
              </a:ext>
            </a:extLst>
          </p:cNvPr>
          <p:cNvSpPr/>
          <p:nvPr/>
        </p:nvSpPr>
        <p:spPr>
          <a:xfrm>
            <a:off x="5589610" y="551995"/>
            <a:ext cx="710952" cy="4322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7">
            <a:extLst>
              <a:ext uri="{FF2B5EF4-FFF2-40B4-BE49-F238E27FC236}">
                <a16:creationId xmlns:a16="http://schemas.microsoft.com/office/drawing/2014/main" id="{A5EDB7E6-A33C-C34B-B47A-FE53D5DEC75B}"/>
              </a:ext>
            </a:extLst>
          </p:cNvPr>
          <p:cNvSpPr/>
          <p:nvPr/>
        </p:nvSpPr>
        <p:spPr>
          <a:xfrm>
            <a:off x="4894404" y="3188388"/>
            <a:ext cx="1346822" cy="1309054"/>
          </a:xfrm>
          <a:prstGeom prst="rect">
            <a:avLst/>
          </a:prstGeom>
          <a:no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accent2"/>
              </a:solidFill>
            </a:endParaRPr>
          </a:p>
        </p:txBody>
      </p:sp>
      <p:sp>
        <p:nvSpPr>
          <p:cNvPr id="9" name="Rectangle 8">
            <a:extLst>
              <a:ext uri="{FF2B5EF4-FFF2-40B4-BE49-F238E27FC236}">
                <a16:creationId xmlns:a16="http://schemas.microsoft.com/office/drawing/2014/main" id="{C43BEA72-4D1C-E8DE-3B79-85D99BB41C9D}"/>
              </a:ext>
            </a:extLst>
          </p:cNvPr>
          <p:cNvSpPr/>
          <p:nvPr/>
        </p:nvSpPr>
        <p:spPr>
          <a:xfrm>
            <a:off x="4894404" y="1217999"/>
            <a:ext cx="1466611" cy="1074079"/>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12" name="Image 11" descr="Une image contenant texte, capture d’écran, Police&#10;&#10;Le contenu généré par l’IA peut être incorrect.">
            <a:extLst>
              <a:ext uri="{FF2B5EF4-FFF2-40B4-BE49-F238E27FC236}">
                <a16:creationId xmlns:a16="http://schemas.microsoft.com/office/drawing/2014/main" id="{F66F0630-3FEF-D473-3E46-F15DD25C720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89766" y="5805270"/>
            <a:ext cx="6607323" cy="901743"/>
          </a:xfrm>
          <a:prstGeom prst="rect">
            <a:avLst/>
          </a:prstGeom>
        </p:spPr>
      </p:pic>
    </p:spTree>
    <p:extLst>
      <p:ext uri="{BB962C8B-B14F-4D97-AF65-F5344CB8AC3E}">
        <p14:creationId xmlns:p14="http://schemas.microsoft.com/office/powerpoint/2010/main" val="410966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44399-9AA9-6459-601B-5CA4F11D2DFC}"/>
            </a:ext>
          </a:extLst>
        </p:cNvPr>
        <p:cNvGrpSpPr/>
        <p:nvPr/>
      </p:nvGrpSpPr>
      <p:grpSpPr>
        <a:xfrm>
          <a:off x="0" y="0"/>
          <a:ext cx="0" cy="0"/>
          <a:chOff x="0" y="0"/>
          <a:chExt cx="0" cy="0"/>
        </a:xfrm>
      </p:grpSpPr>
      <p:pic>
        <p:nvPicPr>
          <p:cNvPr id="5" name="Image 4" descr="Une image contenant logo, Police, symbole, Graphique&#10;&#10;Le contenu généré par l’IA peut être incorrect.">
            <a:extLst>
              <a:ext uri="{FF2B5EF4-FFF2-40B4-BE49-F238E27FC236}">
                <a16:creationId xmlns:a16="http://schemas.microsoft.com/office/drawing/2014/main" id="{4C3D0232-88A2-73CB-04E8-8777B1FD7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
        <p:nvSpPr>
          <p:cNvPr id="4" name="ZoneTexte 3">
            <a:extLst>
              <a:ext uri="{FF2B5EF4-FFF2-40B4-BE49-F238E27FC236}">
                <a16:creationId xmlns:a16="http://schemas.microsoft.com/office/drawing/2014/main" id="{F01A9D3F-4C45-D9D6-E341-CE812E88D138}"/>
              </a:ext>
            </a:extLst>
          </p:cNvPr>
          <p:cNvSpPr txBox="1"/>
          <p:nvPr/>
        </p:nvSpPr>
        <p:spPr>
          <a:xfrm>
            <a:off x="4160731" y="152935"/>
            <a:ext cx="3870538" cy="584775"/>
          </a:xfrm>
          <a:prstGeom prst="rect">
            <a:avLst/>
          </a:prstGeom>
          <a:noFill/>
          <a:ln w="38100">
            <a:solidFill>
              <a:schemeClr val="accent1"/>
            </a:solidFill>
          </a:ln>
        </p:spPr>
        <p:txBody>
          <a:bodyPr wrap="square" rtlCol="0">
            <a:spAutoFit/>
          </a:bodyPr>
          <a:lstStyle/>
          <a:p>
            <a:r>
              <a:rPr lang="fr-FR" sz="3200" b="1" dirty="0" err="1"/>
              <a:t>Feature</a:t>
            </a:r>
            <a:r>
              <a:rPr lang="fr-FR" sz="3200" b="1" dirty="0"/>
              <a:t> Engineering</a:t>
            </a:r>
          </a:p>
        </p:txBody>
      </p:sp>
      <p:sp>
        <p:nvSpPr>
          <p:cNvPr id="8" name="ZoneTexte 7">
            <a:extLst>
              <a:ext uri="{FF2B5EF4-FFF2-40B4-BE49-F238E27FC236}">
                <a16:creationId xmlns:a16="http://schemas.microsoft.com/office/drawing/2014/main" id="{914B5402-2EF4-593E-A293-B3BEDA9CD2FE}"/>
              </a:ext>
            </a:extLst>
          </p:cNvPr>
          <p:cNvSpPr txBox="1"/>
          <p:nvPr/>
        </p:nvSpPr>
        <p:spPr>
          <a:xfrm>
            <a:off x="1361813" y="1068243"/>
            <a:ext cx="1007758" cy="523220"/>
          </a:xfrm>
          <a:prstGeom prst="rect">
            <a:avLst/>
          </a:prstGeom>
          <a:noFill/>
        </p:spPr>
        <p:txBody>
          <a:bodyPr wrap="square" rtlCol="0">
            <a:spAutoFit/>
          </a:bodyPr>
          <a:lstStyle/>
          <a:p>
            <a:r>
              <a:rPr lang="fr-FR" sz="1400" dirty="0" err="1">
                <a:solidFill>
                  <a:srgbClr val="FF0000"/>
                </a:solidFill>
              </a:rPr>
              <a:t>Onehot</a:t>
            </a:r>
            <a:r>
              <a:rPr lang="fr-FR" sz="1400" dirty="0">
                <a:solidFill>
                  <a:srgbClr val="FF0000"/>
                </a:solidFill>
              </a:rPr>
              <a:t> </a:t>
            </a:r>
            <a:r>
              <a:rPr lang="fr-FR" sz="1400" dirty="0" err="1">
                <a:solidFill>
                  <a:srgbClr val="FF0000"/>
                </a:solidFill>
              </a:rPr>
              <a:t>encoding</a:t>
            </a:r>
            <a:endParaRPr lang="fr-FR" sz="1400" dirty="0">
              <a:solidFill>
                <a:srgbClr val="FF0000"/>
              </a:solidFill>
            </a:endParaRPr>
          </a:p>
        </p:txBody>
      </p:sp>
      <p:grpSp>
        <p:nvGrpSpPr>
          <p:cNvPr id="26" name="Groupe 25">
            <a:extLst>
              <a:ext uri="{FF2B5EF4-FFF2-40B4-BE49-F238E27FC236}">
                <a16:creationId xmlns:a16="http://schemas.microsoft.com/office/drawing/2014/main" id="{6880B7F5-B7D9-8343-126C-F8562775A29C}"/>
              </a:ext>
            </a:extLst>
          </p:cNvPr>
          <p:cNvGrpSpPr/>
          <p:nvPr/>
        </p:nvGrpSpPr>
        <p:grpSpPr>
          <a:xfrm>
            <a:off x="878558" y="3215203"/>
            <a:ext cx="9697803" cy="1533739"/>
            <a:chOff x="1865691" y="3335601"/>
            <a:chExt cx="9697803" cy="1533739"/>
          </a:xfrm>
        </p:grpSpPr>
        <p:pic>
          <p:nvPicPr>
            <p:cNvPr id="20" name="Image 19" descr="Une image contenant texte, capture d’écran, Police, nombre&#10;&#10;Le contenu généré par l’IA peut être incorrect.">
              <a:extLst>
                <a:ext uri="{FF2B5EF4-FFF2-40B4-BE49-F238E27FC236}">
                  <a16:creationId xmlns:a16="http://schemas.microsoft.com/office/drawing/2014/main" id="{877423D7-2297-F323-3EAF-8C5787281DC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65691" y="3335601"/>
              <a:ext cx="9697803" cy="1533739"/>
            </a:xfrm>
            <a:prstGeom prst="rect">
              <a:avLst/>
            </a:prstGeom>
          </p:spPr>
        </p:pic>
        <p:sp>
          <p:nvSpPr>
            <p:cNvPr id="24" name="Rectangle 23">
              <a:extLst>
                <a:ext uri="{FF2B5EF4-FFF2-40B4-BE49-F238E27FC236}">
                  <a16:creationId xmlns:a16="http://schemas.microsoft.com/office/drawing/2014/main" id="{9B06CA92-7027-8583-090F-696434D15C7E}"/>
                </a:ext>
              </a:extLst>
            </p:cNvPr>
            <p:cNvSpPr/>
            <p:nvPr/>
          </p:nvSpPr>
          <p:spPr>
            <a:xfrm>
              <a:off x="4368800" y="3595369"/>
              <a:ext cx="7117714" cy="225563"/>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grpSp>
        <p:nvGrpSpPr>
          <p:cNvPr id="27" name="Groupe 26">
            <a:extLst>
              <a:ext uri="{FF2B5EF4-FFF2-40B4-BE49-F238E27FC236}">
                <a16:creationId xmlns:a16="http://schemas.microsoft.com/office/drawing/2014/main" id="{B808A4F0-9DDB-11FB-CA5C-071957870F70}"/>
              </a:ext>
            </a:extLst>
          </p:cNvPr>
          <p:cNvGrpSpPr/>
          <p:nvPr/>
        </p:nvGrpSpPr>
        <p:grpSpPr>
          <a:xfrm>
            <a:off x="112795" y="1648263"/>
            <a:ext cx="11966410" cy="1414052"/>
            <a:chOff x="112794" y="1517076"/>
            <a:chExt cx="11966410" cy="1414052"/>
          </a:xfrm>
        </p:grpSpPr>
        <p:pic>
          <p:nvPicPr>
            <p:cNvPr id="12" name="Image 11">
              <a:extLst>
                <a:ext uri="{FF2B5EF4-FFF2-40B4-BE49-F238E27FC236}">
                  <a16:creationId xmlns:a16="http://schemas.microsoft.com/office/drawing/2014/main" id="{49194CC2-5078-EDED-46CA-C73FC70687F0}"/>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112794" y="1517076"/>
              <a:ext cx="11966410" cy="1414052"/>
            </a:xfrm>
            <a:prstGeom prst="rect">
              <a:avLst/>
            </a:prstGeom>
          </p:spPr>
        </p:pic>
        <p:sp>
          <p:nvSpPr>
            <p:cNvPr id="13" name="Rectangle 12">
              <a:extLst>
                <a:ext uri="{FF2B5EF4-FFF2-40B4-BE49-F238E27FC236}">
                  <a16:creationId xmlns:a16="http://schemas.microsoft.com/office/drawing/2014/main" id="{9BC6E8BE-344B-F492-0550-F9E0FFB83675}"/>
                </a:ext>
              </a:extLst>
            </p:cNvPr>
            <p:cNvSpPr/>
            <p:nvPr/>
          </p:nvSpPr>
          <p:spPr>
            <a:xfrm>
              <a:off x="1724025" y="1688167"/>
              <a:ext cx="283333" cy="12429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0450E8A0-652C-621D-08E5-22D962417CF8}"/>
                </a:ext>
              </a:extLst>
            </p:cNvPr>
            <p:cNvSpPr/>
            <p:nvPr/>
          </p:nvSpPr>
          <p:spPr>
            <a:xfrm>
              <a:off x="3214688" y="1770877"/>
              <a:ext cx="8807366" cy="18236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6" name="Connecteur droit avec flèche 15">
              <a:extLst>
                <a:ext uri="{FF2B5EF4-FFF2-40B4-BE49-F238E27FC236}">
                  <a16:creationId xmlns:a16="http://schemas.microsoft.com/office/drawing/2014/main" id="{8AD51D46-5F09-096D-F97E-9F707E3BE6FA}"/>
                </a:ext>
              </a:extLst>
            </p:cNvPr>
            <p:cNvCxnSpPr/>
            <p:nvPr/>
          </p:nvCxnSpPr>
          <p:spPr>
            <a:xfrm>
              <a:off x="3619500" y="1879600"/>
              <a:ext cx="6286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7" name="Connecteur droit avec flèche 16">
              <a:extLst>
                <a:ext uri="{FF2B5EF4-FFF2-40B4-BE49-F238E27FC236}">
                  <a16:creationId xmlns:a16="http://schemas.microsoft.com/office/drawing/2014/main" id="{5956AD74-F950-41F7-F027-9B184F3729A1}"/>
                </a:ext>
              </a:extLst>
            </p:cNvPr>
            <p:cNvCxnSpPr/>
            <p:nvPr/>
          </p:nvCxnSpPr>
          <p:spPr>
            <a:xfrm>
              <a:off x="7124700" y="1879600"/>
              <a:ext cx="6286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eur droit avec flèche 17">
              <a:extLst>
                <a:ext uri="{FF2B5EF4-FFF2-40B4-BE49-F238E27FC236}">
                  <a16:creationId xmlns:a16="http://schemas.microsoft.com/office/drawing/2014/main" id="{D289FB9B-2A79-E0BD-FBB8-C457436C39F1}"/>
                </a:ext>
              </a:extLst>
            </p:cNvPr>
            <p:cNvCxnSpPr/>
            <p:nvPr/>
          </p:nvCxnSpPr>
          <p:spPr>
            <a:xfrm>
              <a:off x="10610850" y="1879600"/>
              <a:ext cx="62865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414AF738-A2A4-8BC8-2075-BF66870AD6AC}"/>
                </a:ext>
              </a:extLst>
            </p:cNvPr>
            <p:cNvSpPr/>
            <p:nvPr/>
          </p:nvSpPr>
          <p:spPr>
            <a:xfrm>
              <a:off x="2109764" y="1545821"/>
              <a:ext cx="2762274" cy="182367"/>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pic>
        <p:nvPicPr>
          <p:cNvPr id="34" name="Image 33" descr="Une image contenant capture d’écran, texte, noir, noir et blanc&#10;&#10;Le contenu généré par l’IA peut être incorrect.">
            <a:extLst>
              <a:ext uri="{FF2B5EF4-FFF2-40B4-BE49-F238E27FC236}">
                <a16:creationId xmlns:a16="http://schemas.microsoft.com/office/drawing/2014/main" id="{CAD5B114-233F-2EF6-3603-4E52B2EFD46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0820" y="4901830"/>
            <a:ext cx="11898385" cy="1486107"/>
          </a:xfrm>
          <a:prstGeom prst="rect">
            <a:avLst/>
          </a:prstGeom>
        </p:spPr>
      </p:pic>
      <p:sp>
        <p:nvSpPr>
          <p:cNvPr id="35" name="Rectangle 34">
            <a:extLst>
              <a:ext uri="{FF2B5EF4-FFF2-40B4-BE49-F238E27FC236}">
                <a16:creationId xmlns:a16="http://schemas.microsoft.com/office/drawing/2014/main" id="{44E5D63C-DD55-96E7-FBB3-F2FAF2A67051}"/>
              </a:ext>
            </a:extLst>
          </p:cNvPr>
          <p:cNvSpPr/>
          <p:nvPr/>
        </p:nvSpPr>
        <p:spPr>
          <a:xfrm>
            <a:off x="786139" y="4892425"/>
            <a:ext cx="1323626" cy="244659"/>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36" name="Rectangle 35">
            <a:extLst>
              <a:ext uri="{FF2B5EF4-FFF2-40B4-BE49-F238E27FC236}">
                <a16:creationId xmlns:a16="http://schemas.microsoft.com/office/drawing/2014/main" id="{0D902E62-C6E6-D67B-FF09-5DB1831F5EE0}"/>
              </a:ext>
            </a:extLst>
          </p:cNvPr>
          <p:cNvSpPr/>
          <p:nvPr/>
        </p:nvSpPr>
        <p:spPr>
          <a:xfrm>
            <a:off x="3187884" y="2849058"/>
            <a:ext cx="1803215" cy="182367"/>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37" name="Rectangle 36">
            <a:extLst>
              <a:ext uri="{FF2B5EF4-FFF2-40B4-BE49-F238E27FC236}">
                <a16:creationId xmlns:a16="http://schemas.microsoft.com/office/drawing/2014/main" id="{0C3B3B62-0392-C89F-A3A1-F7DBE47B6991}"/>
              </a:ext>
            </a:extLst>
          </p:cNvPr>
          <p:cNvSpPr/>
          <p:nvPr/>
        </p:nvSpPr>
        <p:spPr>
          <a:xfrm>
            <a:off x="8668625" y="6884020"/>
            <a:ext cx="839176" cy="225563"/>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38" name="Rectangle 37">
            <a:extLst>
              <a:ext uri="{FF2B5EF4-FFF2-40B4-BE49-F238E27FC236}">
                <a16:creationId xmlns:a16="http://schemas.microsoft.com/office/drawing/2014/main" id="{B2403119-FD03-B93E-36BC-CFDB86F56D0C}"/>
              </a:ext>
            </a:extLst>
          </p:cNvPr>
          <p:cNvSpPr/>
          <p:nvPr/>
        </p:nvSpPr>
        <p:spPr>
          <a:xfrm>
            <a:off x="6369234" y="2844698"/>
            <a:ext cx="2299391" cy="186727"/>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39" name="Rectangle 38">
            <a:extLst>
              <a:ext uri="{FF2B5EF4-FFF2-40B4-BE49-F238E27FC236}">
                <a16:creationId xmlns:a16="http://schemas.microsoft.com/office/drawing/2014/main" id="{6C22118D-F7F7-7059-B849-65AE36F57DE7}"/>
              </a:ext>
            </a:extLst>
          </p:cNvPr>
          <p:cNvSpPr/>
          <p:nvPr/>
        </p:nvSpPr>
        <p:spPr>
          <a:xfrm>
            <a:off x="1320110" y="6179171"/>
            <a:ext cx="2299391" cy="186727"/>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40" name="Rectangle 39">
            <a:extLst>
              <a:ext uri="{FF2B5EF4-FFF2-40B4-BE49-F238E27FC236}">
                <a16:creationId xmlns:a16="http://schemas.microsoft.com/office/drawing/2014/main" id="{282102D9-D285-B0F7-3509-8C4263B79418}"/>
              </a:ext>
            </a:extLst>
          </p:cNvPr>
          <p:cNvSpPr/>
          <p:nvPr/>
        </p:nvSpPr>
        <p:spPr>
          <a:xfrm>
            <a:off x="2159202" y="4892425"/>
            <a:ext cx="1365646" cy="244659"/>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ln>
                <a:solidFill>
                  <a:schemeClr val="accent3"/>
                </a:solidFill>
              </a:ln>
            </a:endParaRPr>
          </a:p>
        </p:txBody>
      </p:sp>
      <p:sp>
        <p:nvSpPr>
          <p:cNvPr id="43" name="ZoneTexte 42">
            <a:extLst>
              <a:ext uri="{FF2B5EF4-FFF2-40B4-BE49-F238E27FC236}">
                <a16:creationId xmlns:a16="http://schemas.microsoft.com/office/drawing/2014/main" id="{B2B9B017-9685-143E-5A78-7674255B93B6}"/>
              </a:ext>
            </a:extLst>
          </p:cNvPr>
          <p:cNvSpPr txBox="1"/>
          <p:nvPr/>
        </p:nvSpPr>
        <p:spPr>
          <a:xfrm>
            <a:off x="4872039" y="1180925"/>
            <a:ext cx="2336712" cy="400110"/>
          </a:xfrm>
          <a:prstGeom prst="rect">
            <a:avLst/>
          </a:prstGeom>
          <a:noFill/>
        </p:spPr>
        <p:txBody>
          <a:bodyPr wrap="square">
            <a:spAutoFit/>
          </a:bodyPr>
          <a:lstStyle/>
          <a:p>
            <a:r>
              <a:rPr lang="fr-FR" sz="2000" b="1" dirty="0" err="1">
                <a:solidFill>
                  <a:schemeClr val="accent1"/>
                </a:solidFill>
              </a:rPr>
              <a:t>Special</a:t>
            </a:r>
            <a:r>
              <a:rPr lang="fr-FR" sz="2000" b="1" dirty="0">
                <a:solidFill>
                  <a:schemeClr val="accent1"/>
                </a:solidFill>
              </a:rPr>
              <a:t> </a:t>
            </a:r>
            <a:r>
              <a:rPr lang="fr-FR" sz="2000" b="1" dirty="0" err="1">
                <a:solidFill>
                  <a:schemeClr val="accent1"/>
                </a:solidFill>
              </a:rPr>
              <a:t>encoding</a:t>
            </a:r>
            <a:endParaRPr lang="fr-FR" sz="2000" b="1" dirty="0">
              <a:solidFill>
                <a:schemeClr val="accent1"/>
              </a:solidFill>
            </a:endParaRPr>
          </a:p>
        </p:txBody>
      </p:sp>
      <p:sp>
        <p:nvSpPr>
          <p:cNvPr id="44" name="ZoneTexte 43">
            <a:extLst>
              <a:ext uri="{FF2B5EF4-FFF2-40B4-BE49-F238E27FC236}">
                <a16:creationId xmlns:a16="http://schemas.microsoft.com/office/drawing/2014/main" id="{6580FBE9-C212-43BE-ACAD-1F55DF65D040}"/>
              </a:ext>
            </a:extLst>
          </p:cNvPr>
          <p:cNvSpPr txBox="1"/>
          <p:nvPr/>
        </p:nvSpPr>
        <p:spPr>
          <a:xfrm>
            <a:off x="1613674" y="6397342"/>
            <a:ext cx="1712262" cy="369332"/>
          </a:xfrm>
          <a:prstGeom prst="rect">
            <a:avLst/>
          </a:prstGeom>
          <a:noFill/>
        </p:spPr>
        <p:txBody>
          <a:bodyPr wrap="square">
            <a:spAutoFit/>
          </a:bodyPr>
          <a:lstStyle/>
          <a:p>
            <a:r>
              <a:rPr lang="fr-FR" b="1" dirty="0" err="1">
                <a:solidFill>
                  <a:schemeClr val="accent3"/>
                </a:solidFill>
              </a:rPr>
              <a:t>Sum</a:t>
            </a:r>
            <a:r>
              <a:rPr lang="fr-FR" b="1" dirty="0">
                <a:solidFill>
                  <a:schemeClr val="accent3"/>
                </a:solidFill>
              </a:rPr>
              <a:t> </a:t>
            </a:r>
            <a:r>
              <a:rPr lang="fr-FR" b="1" dirty="0" err="1">
                <a:solidFill>
                  <a:schemeClr val="accent3"/>
                </a:solidFill>
              </a:rPr>
              <a:t>special</a:t>
            </a:r>
            <a:endParaRPr lang="fr-FR" b="1" dirty="0">
              <a:solidFill>
                <a:schemeClr val="accent3"/>
              </a:solidFill>
            </a:endParaRPr>
          </a:p>
        </p:txBody>
      </p:sp>
    </p:spTree>
    <p:extLst>
      <p:ext uri="{BB962C8B-B14F-4D97-AF65-F5344CB8AC3E}">
        <p14:creationId xmlns:p14="http://schemas.microsoft.com/office/powerpoint/2010/main" val="3041416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34EFD-D140-8E4D-1DCD-8F4EF3D684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4BCB50E-FAF8-D7CB-44D1-EBC54B614D96}"/>
              </a:ext>
            </a:extLst>
          </p:cNvPr>
          <p:cNvSpPr>
            <a:spLocks noGrp="1"/>
          </p:cNvSpPr>
          <p:nvPr>
            <p:ph type="ctrTitle"/>
          </p:nvPr>
        </p:nvSpPr>
        <p:spPr>
          <a:xfrm>
            <a:off x="4207010" y="126842"/>
            <a:ext cx="4252883" cy="562768"/>
          </a:xfrm>
          <a:ln w="38100">
            <a:solidFill>
              <a:schemeClr val="accent1"/>
            </a:solidFill>
          </a:ln>
        </p:spPr>
        <p:txBody>
          <a:bodyPr>
            <a:normAutofit/>
          </a:bodyPr>
          <a:lstStyle/>
          <a:p>
            <a:r>
              <a:rPr lang="fr-FR" sz="3200" b="1" dirty="0" err="1"/>
              <a:t>Preprocessing</a:t>
            </a:r>
            <a:r>
              <a:rPr lang="fr-FR" sz="3200" b="1" dirty="0"/>
              <a:t> global </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723B1BF3-9B82-69D2-DD20-285C68A66C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graphicFrame>
        <p:nvGraphicFramePr>
          <p:cNvPr id="14" name="Tableau 13">
            <a:extLst>
              <a:ext uri="{FF2B5EF4-FFF2-40B4-BE49-F238E27FC236}">
                <a16:creationId xmlns:a16="http://schemas.microsoft.com/office/drawing/2014/main" id="{2BC70FF2-0909-801B-79EE-C5C9CC60E96C}"/>
              </a:ext>
            </a:extLst>
          </p:cNvPr>
          <p:cNvGraphicFramePr>
            <a:graphicFrameLocks noGrp="1"/>
          </p:cNvGraphicFramePr>
          <p:nvPr>
            <p:extLst>
              <p:ext uri="{D42A27DB-BD31-4B8C-83A1-F6EECF244321}">
                <p14:modId xmlns:p14="http://schemas.microsoft.com/office/powerpoint/2010/main" val="4282889505"/>
              </p:ext>
            </p:extLst>
          </p:nvPr>
        </p:nvGraphicFramePr>
        <p:xfrm>
          <a:off x="1970155" y="889000"/>
          <a:ext cx="7937499" cy="5442695"/>
        </p:xfrm>
        <a:graphic>
          <a:graphicData uri="http://schemas.openxmlformats.org/drawingml/2006/table">
            <a:tbl>
              <a:tblPr firstRow="1" bandRow="1">
                <a:tableStyleId>{5C22544A-7EE6-4342-B048-85BDC9FD1C3A}</a:tableStyleId>
              </a:tblPr>
              <a:tblGrid>
                <a:gridCol w="2764102">
                  <a:extLst>
                    <a:ext uri="{9D8B030D-6E8A-4147-A177-3AD203B41FA5}">
                      <a16:colId xmlns:a16="http://schemas.microsoft.com/office/drawing/2014/main" val="3922965710"/>
                    </a:ext>
                  </a:extLst>
                </a:gridCol>
                <a:gridCol w="1469342">
                  <a:extLst>
                    <a:ext uri="{9D8B030D-6E8A-4147-A177-3AD203B41FA5}">
                      <a16:colId xmlns:a16="http://schemas.microsoft.com/office/drawing/2014/main" val="3414567224"/>
                    </a:ext>
                  </a:extLst>
                </a:gridCol>
                <a:gridCol w="1843714">
                  <a:extLst>
                    <a:ext uri="{9D8B030D-6E8A-4147-A177-3AD203B41FA5}">
                      <a16:colId xmlns:a16="http://schemas.microsoft.com/office/drawing/2014/main" val="3405459371"/>
                    </a:ext>
                  </a:extLst>
                </a:gridCol>
                <a:gridCol w="1860341">
                  <a:extLst>
                    <a:ext uri="{9D8B030D-6E8A-4147-A177-3AD203B41FA5}">
                      <a16:colId xmlns:a16="http://schemas.microsoft.com/office/drawing/2014/main" val="2558205574"/>
                    </a:ext>
                  </a:extLst>
                </a:gridCol>
              </a:tblGrid>
              <a:tr h="741083">
                <a:tc>
                  <a:txBody>
                    <a:bodyPr/>
                    <a:lstStyle/>
                    <a:p>
                      <a:r>
                        <a:rPr lang="fr-FR" dirty="0"/>
                        <a:t>Data - Caractéristiques</a:t>
                      </a:r>
                    </a:p>
                  </a:txBody>
                  <a:tcPr/>
                </a:tc>
                <a:tc>
                  <a:txBody>
                    <a:bodyPr/>
                    <a:lstStyle/>
                    <a:p>
                      <a:r>
                        <a:rPr lang="fr-FR" dirty="0" err="1"/>
                        <a:t>df</a:t>
                      </a:r>
                      <a:endParaRPr lang="fr-FR" dirty="0"/>
                    </a:p>
                  </a:txBody>
                  <a:tcPr/>
                </a:tc>
                <a:tc>
                  <a:txBody>
                    <a:bodyPr/>
                    <a:lstStyle/>
                    <a:p>
                      <a:r>
                        <a:rPr lang="fr-FR" sz="1600" dirty="0" err="1"/>
                        <a:t>df_summed</a:t>
                      </a:r>
                      <a:endParaRPr lang="fr-FR" sz="1600" dirty="0"/>
                    </a:p>
                  </a:txBody>
                  <a:tcPr/>
                </a:tc>
                <a:tc>
                  <a:txBody>
                    <a:bodyPr/>
                    <a:lstStyle/>
                    <a:p>
                      <a:r>
                        <a:rPr lang="fr-FR" sz="1400" dirty="0" err="1"/>
                        <a:t>df_transformed</a:t>
                      </a:r>
                      <a:endParaRPr lang="fr-FR" sz="1400" dirty="0"/>
                    </a:p>
                  </a:txBody>
                  <a:tcPr/>
                </a:tc>
                <a:extLst>
                  <a:ext uri="{0D108BD9-81ED-4DB2-BD59-A6C34878D82A}">
                    <a16:rowId xmlns:a16="http://schemas.microsoft.com/office/drawing/2014/main" val="1249454682"/>
                  </a:ext>
                </a:extLst>
              </a:tr>
              <a:tr h="423476">
                <a:tc>
                  <a:txBody>
                    <a:bodyPr/>
                    <a:lstStyle/>
                    <a:p>
                      <a:r>
                        <a:rPr lang="fr-FR" dirty="0" err="1"/>
                        <a:t>Onehot</a:t>
                      </a:r>
                      <a:r>
                        <a:rPr lang="fr-FR" dirty="0"/>
                        <a:t> </a:t>
                      </a:r>
                      <a:r>
                        <a:rPr lang="fr-FR" dirty="0" err="1"/>
                        <a:t>encoding</a:t>
                      </a:r>
                      <a:endParaRPr lang="fr-FR" dirty="0"/>
                    </a:p>
                  </a:txBody>
                  <a:tcPr/>
                </a:tc>
                <a:tc>
                  <a:txBody>
                    <a:bodyPr/>
                    <a:lstStyle/>
                    <a:p>
                      <a:r>
                        <a:rPr lang="fr-FR" dirty="0"/>
                        <a:t>X</a:t>
                      </a:r>
                    </a:p>
                  </a:txBody>
                  <a:tcPr/>
                </a:tc>
                <a:tc>
                  <a:txBody>
                    <a:bodyPr/>
                    <a:lstStyle/>
                    <a:p>
                      <a:r>
                        <a:rPr lang="fr-FR" dirty="0"/>
                        <a:t>X</a:t>
                      </a:r>
                    </a:p>
                  </a:txBody>
                  <a:tcPr/>
                </a:tc>
                <a:tc>
                  <a:txBody>
                    <a:bodyPr/>
                    <a:lstStyle/>
                    <a:p>
                      <a:r>
                        <a:rPr lang="fr-FR" dirty="0"/>
                        <a:t>X</a:t>
                      </a:r>
                    </a:p>
                  </a:txBody>
                  <a:tcPr/>
                </a:tc>
                <a:extLst>
                  <a:ext uri="{0D108BD9-81ED-4DB2-BD59-A6C34878D82A}">
                    <a16:rowId xmlns:a16="http://schemas.microsoft.com/office/drawing/2014/main" val="889230492"/>
                  </a:ext>
                </a:extLst>
              </a:tr>
              <a:tr h="524838">
                <a:tc>
                  <a:txBody>
                    <a:bodyPr/>
                    <a:lstStyle/>
                    <a:p>
                      <a:r>
                        <a:rPr lang="fr-FR" dirty="0" err="1"/>
                        <a:t>Special</a:t>
                      </a:r>
                      <a:r>
                        <a:rPr lang="fr-FR" dirty="0"/>
                        <a:t> </a:t>
                      </a:r>
                      <a:r>
                        <a:rPr lang="fr-FR" dirty="0" err="1"/>
                        <a:t>encoding</a:t>
                      </a:r>
                      <a:endParaRPr lang="fr-FR" dirty="0"/>
                    </a:p>
                  </a:txBody>
                  <a:tcPr/>
                </a:tc>
                <a:tc>
                  <a:txBody>
                    <a:bodyPr/>
                    <a:lstStyle/>
                    <a:p>
                      <a:r>
                        <a:rPr lang="fr-FR" dirty="0"/>
                        <a:t>X</a:t>
                      </a:r>
                    </a:p>
                  </a:txBody>
                  <a:tcPr/>
                </a:tc>
                <a:tc>
                  <a:txBody>
                    <a:bodyPr/>
                    <a:lstStyle/>
                    <a:p>
                      <a:endParaRPr lang="fr-FR" dirty="0"/>
                    </a:p>
                  </a:txBody>
                  <a:tcPr/>
                </a:tc>
                <a:tc>
                  <a:txBody>
                    <a:bodyPr/>
                    <a:lstStyle/>
                    <a:p>
                      <a:endParaRPr lang="fr-FR"/>
                    </a:p>
                  </a:txBody>
                  <a:tcPr/>
                </a:tc>
                <a:extLst>
                  <a:ext uri="{0D108BD9-81ED-4DB2-BD59-A6C34878D82A}">
                    <a16:rowId xmlns:a16="http://schemas.microsoft.com/office/drawing/2014/main" val="934242294"/>
                  </a:ext>
                </a:extLst>
              </a:tr>
              <a:tr h="74108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Sum</a:t>
                      </a:r>
                      <a:r>
                        <a:rPr lang="fr-FR" dirty="0"/>
                        <a:t> </a:t>
                      </a:r>
                      <a:r>
                        <a:rPr lang="fr-FR" dirty="0" err="1"/>
                        <a:t>special</a:t>
                      </a:r>
                      <a:r>
                        <a:rPr lang="fr-FR" dirty="0"/>
                        <a:t> </a:t>
                      </a:r>
                      <a:r>
                        <a:rPr lang="fr-FR" dirty="0" err="1"/>
                        <a:t>encoding</a:t>
                      </a:r>
                      <a:endParaRPr lang="fr-FR" dirty="0"/>
                    </a:p>
                  </a:txBody>
                  <a:tcPr/>
                </a:tc>
                <a:tc>
                  <a:txBody>
                    <a:bodyPr/>
                    <a:lstStyle/>
                    <a:p>
                      <a:endParaRPr lang="fr-FR"/>
                    </a:p>
                  </a:txBody>
                  <a:tcPr/>
                </a:tc>
                <a:tc>
                  <a:txBody>
                    <a:bodyPr/>
                    <a:lstStyle/>
                    <a:p>
                      <a:r>
                        <a:rPr lang="fr-FR" dirty="0"/>
                        <a:t>X</a:t>
                      </a:r>
                    </a:p>
                  </a:txBody>
                  <a:tcPr/>
                </a:tc>
                <a:tc>
                  <a:txBody>
                    <a:bodyPr/>
                    <a:lstStyle/>
                    <a:p>
                      <a:r>
                        <a:rPr lang="fr-FR" dirty="0"/>
                        <a:t>X</a:t>
                      </a:r>
                    </a:p>
                  </a:txBody>
                  <a:tcPr/>
                </a:tc>
                <a:extLst>
                  <a:ext uri="{0D108BD9-81ED-4DB2-BD59-A6C34878D82A}">
                    <a16:rowId xmlns:a16="http://schemas.microsoft.com/office/drawing/2014/main" val="3936746327"/>
                  </a:ext>
                </a:extLst>
              </a:tr>
              <a:tr h="741083">
                <a:tc>
                  <a:txBody>
                    <a:bodyPr/>
                    <a:lstStyle/>
                    <a:p>
                      <a:r>
                        <a:rPr lang="fr-FR" dirty="0"/>
                        <a:t>Réduction modalité </a:t>
                      </a:r>
                    </a:p>
                    <a:p>
                      <a:r>
                        <a:rPr lang="fr-FR" dirty="0"/>
                        <a:t>Type usage</a:t>
                      </a:r>
                    </a:p>
                  </a:txBody>
                  <a:tcPr/>
                </a:tc>
                <a:tc>
                  <a:txBody>
                    <a:bodyPr/>
                    <a:lstStyle/>
                    <a:p>
                      <a:r>
                        <a:rPr lang="fr-FR" dirty="0"/>
                        <a:t>X</a:t>
                      </a:r>
                    </a:p>
                  </a:txBody>
                  <a:tcPr/>
                </a:tc>
                <a:tc>
                  <a:txBody>
                    <a:bodyPr/>
                    <a:lstStyle/>
                    <a:p>
                      <a:r>
                        <a:rPr lang="fr-FR" dirty="0"/>
                        <a:t>X</a:t>
                      </a:r>
                    </a:p>
                  </a:txBody>
                  <a:tcPr/>
                </a:tc>
                <a:tc>
                  <a:txBody>
                    <a:bodyPr/>
                    <a:lstStyle/>
                    <a:p>
                      <a:r>
                        <a:rPr lang="fr-FR" dirty="0"/>
                        <a:t>X</a:t>
                      </a:r>
                    </a:p>
                  </a:txBody>
                  <a:tcPr/>
                </a:tc>
                <a:extLst>
                  <a:ext uri="{0D108BD9-81ED-4DB2-BD59-A6C34878D82A}">
                    <a16:rowId xmlns:a16="http://schemas.microsoft.com/office/drawing/2014/main" val="2640092010"/>
                  </a:ext>
                </a:extLst>
              </a:tr>
              <a:tr h="757044">
                <a:tc>
                  <a:txBody>
                    <a:bodyPr/>
                    <a:lstStyle/>
                    <a:p>
                      <a:r>
                        <a:rPr lang="fr-FR" dirty="0"/>
                        <a:t>Création </a:t>
                      </a:r>
                      <a:r>
                        <a:rPr lang="fr-FR" dirty="0" err="1"/>
                        <a:t>age</a:t>
                      </a:r>
                      <a:endParaRPr lang="fr-FR" dirty="0"/>
                    </a:p>
                  </a:txBody>
                  <a:tcPr/>
                </a:tc>
                <a:tc>
                  <a:txBody>
                    <a:bodyPr/>
                    <a:lstStyle/>
                    <a:p>
                      <a:r>
                        <a:rPr lang="fr-FR" dirty="0"/>
                        <a:t>X</a:t>
                      </a:r>
                    </a:p>
                  </a:txBody>
                  <a:tcPr/>
                </a:tc>
                <a:tc>
                  <a:txBody>
                    <a:bodyPr/>
                    <a:lstStyle/>
                    <a:p>
                      <a:r>
                        <a:rPr lang="fr-FR" dirty="0"/>
                        <a:t>X</a:t>
                      </a:r>
                    </a:p>
                  </a:txBody>
                  <a:tcPr/>
                </a:tc>
                <a:tc>
                  <a:txBody>
                    <a:bodyPr/>
                    <a:lstStyle/>
                    <a:p>
                      <a:r>
                        <a:rPr lang="fr-FR" dirty="0"/>
                        <a:t>X</a:t>
                      </a:r>
                    </a:p>
                  </a:txBody>
                  <a:tcPr/>
                </a:tc>
                <a:extLst>
                  <a:ext uri="{0D108BD9-81ED-4DB2-BD59-A6C34878D82A}">
                    <a16:rowId xmlns:a16="http://schemas.microsoft.com/office/drawing/2014/main" val="1210498979"/>
                  </a:ext>
                </a:extLst>
              </a:tr>
              <a:tr h="757044">
                <a:tc>
                  <a:txBody>
                    <a:bodyPr/>
                    <a:lstStyle/>
                    <a:p>
                      <a:r>
                        <a:rPr lang="fr-FR" dirty="0"/>
                        <a:t>Création % énergie</a:t>
                      </a:r>
                    </a:p>
                  </a:txBody>
                  <a:tcPr/>
                </a:tc>
                <a:tc>
                  <a:txBody>
                    <a:bodyPr/>
                    <a:lstStyle/>
                    <a:p>
                      <a:r>
                        <a:rPr lang="fr-FR" dirty="0"/>
                        <a:t>X</a:t>
                      </a:r>
                    </a:p>
                  </a:txBody>
                  <a:tcPr/>
                </a:tc>
                <a:tc>
                  <a:txBody>
                    <a:bodyPr/>
                    <a:lstStyle/>
                    <a:p>
                      <a:r>
                        <a:rPr lang="fr-FR" dirty="0"/>
                        <a:t>X</a:t>
                      </a:r>
                    </a:p>
                  </a:txBody>
                  <a:tcPr/>
                </a:tc>
                <a:tc>
                  <a:txBody>
                    <a:bodyPr/>
                    <a:lstStyle/>
                    <a:p>
                      <a:r>
                        <a:rPr lang="fr-FR" dirty="0"/>
                        <a:t>X</a:t>
                      </a:r>
                    </a:p>
                  </a:txBody>
                  <a:tcPr/>
                </a:tc>
                <a:extLst>
                  <a:ext uri="{0D108BD9-81ED-4DB2-BD59-A6C34878D82A}">
                    <a16:rowId xmlns:a16="http://schemas.microsoft.com/office/drawing/2014/main" val="1028891014"/>
                  </a:ext>
                </a:extLst>
              </a:tr>
              <a:tr h="757044">
                <a:tc>
                  <a:txBody>
                    <a:bodyPr/>
                    <a:lstStyle/>
                    <a:p>
                      <a:r>
                        <a:rPr lang="fr-FR" dirty="0"/>
                        <a:t>Transformée</a:t>
                      </a:r>
                    </a:p>
                  </a:txBody>
                  <a:tcPr/>
                </a:tc>
                <a:tc>
                  <a:txBody>
                    <a:bodyPr/>
                    <a:lstStyle/>
                    <a:p>
                      <a:endParaRPr lang="fr-FR" dirty="0"/>
                    </a:p>
                  </a:txBody>
                  <a:tcPr/>
                </a:tc>
                <a:tc>
                  <a:txBody>
                    <a:bodyPr/>
                    <a:lstStyle/>
                    <a:p>
                      <a:endParaRPr lang="fr-FR" dirty="0"/>
                    </a:p>
                  </a:txBody>
                  <a:tcPr/>
                </a:tc>
                <a:tc>
                  <a:txBody>
                    <a:bodyPr/>
                    <a:lstStyle/>
                    <a:p>
                      <a:r>
                        <a:rPr lang="fr-FR" dirty="0"/>
                        <a:t>X</a:t>
                      </a:r>
                    </a:p>
                  </a:txBody>
                  <a:tcPr/>
                </a:tc>
                <a:extLst>
                  <a:ext uri="{0D108BD9-81ED-4DB2-BD59-A6C34878D82A}">
                    <a16:rowId xmlns:a16="http://schemas.microsoft.com/office/drawing/2014/main" val="3399492147"/>
                  </a:ext>
                </a:extLst>
              </a:tr>
            </a:tbl>
          </a:graphicData>
        </a:graphic>
      </p:graphicFrame>
    </p:spTree>
    <p:extLst>
      <p:ext uri="{BB962C8B-B14F-4D97-AF65-F5344CB8AC3E}">
        <p14:creationId xmlns:p14="http://schemas.microsoft.com/office/powerpoint/2010/main" val="3252235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E5AC7-4087-4279-2C73-62AFDE555A1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CF93D540-9E7E-885B-32FB-EBA4119A0E45}"/>
              </a:ext>
            </a:extLst>
          </p:cNvPr>
          <p:cNvSpPr>
            <a:spLocks noGrp="1"/>
          </p:cNvSpPr>
          <p:nvPr>
            <p:ph type="ctrTitle"/>
          </p:nvPr>
        </p:nvSpPr>
        <p:spPr>
          <a:xfrm>
            <a:off x="4121114" y="311150"/>
            <a:ext cx="4378151" cy="622300"/>
          </a:xfrm>
          <a:ln w="38100">
            <a:solidFill>
              <a:schemeClr val="accent1"/>
            </a:solidFill>
          </a:ln>
        </p:spPr>
        <p:txBody>
          <a:bodyPr>
            <a:normAutofit fontScale="90000"/>
          </a:bodyPr>
          <a:lstStyle/>
          <a:p>
            <a:r>
              <a:rPr lang="fr-FR" sz="3600" b="1" dirty="0"/>
              <a:t>Modèles : premier test</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0A05249A-C5E9-0963-4EAC-3BE78C38C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
        <p:nvSpPr>
          <p:cNvPr id="4" name="ZoneTexte 3">
            <a:extLst>
              <a:ext uri="{FF2B5EF4-FFF2-40B4-BE49-F238E27FC236}">
                <a16:creationId xmlns:a16="http://schemas.microsoft.com/office/drawing/2014/main" id="{175EAC64-0F87-3BC9-23DB-82C795A3E9CE}"/>
              </a:ext>
            </a:extLst>
          </p:cNvPr>
          <p:cNvSpPr txBox="1"/>
          <p:nvPr/>
        </p:nvSpPr>
        <p:spPr>
          <a:xfrm>
            <a:off x="2149693" y="1519288"/>
            <a:ext cx="1675459" cy="369332"/>
          </a:xfrm>
          <a:prstGeom prst="rect">
            <a:avLst/>
          </a:prstGeom>
          <a:noFill/>
          <a:ln>
            <a:solidFill>
              <a:schemeClr val="accent1"/>
            </a:solidFill>
          </a:ln>
        </p:spPr>
        <p:txBody>
          <a:bodyPr wrap="none" rtlCol="0">
            <a:spAutoFit/>
          </a:bodyPr>
          <a:lstStyle/>
          <a:p>
            <a:r>
              <a:rPr lang="fr-FR" dirty="0"/>
              <a:t>Classement T1</a:t>
            </a:r>
          </a:p>
        </p:txBody>
      </p:sp>
      <p:sp>
        <p:nvSpPr>
          <p:cNvPr id="6" name="ZoneTexte 5">
            <a:extLst>
              <a:ext uri="{FF2B5EF4-FFF2-40B4-BE49-F238E27FC236}">
                <a16:creationId xmlns:a16="http://schemas.microsoft.com/office/drawing/2014/main" id="{CC3F41A2-9898-6366-D46B-F4DD2A12512E}"/>
              </a:ext>
            </a:extLst>
          </p:cNvPr>
          <p:cNvSpPr txBox="1"/>
          <p:nvPr/>
        </p:nvSpPr>
        <p:spPr>
          <a:xfrm>
            <a:off x="8366848" y="1519288"/>
            <a:ext cx="1675459" cy="369332"/>
          </a:xfrm>
          <a:prstGeom prst="rect">
            <a:avLst/>
          </a:prstGeom>
          <a:noFill/>
          <a:ln>
            <a:solidFill>
              <a:schemeClr val="accent1"/>
            </a:solidFill>
          </a:ln>
        </p:spPr>
        <p:txBody>
          <a:bodyPr wrap="none" rtlCol="0">
            <a:spAutoFit/>
          </a:bodyPr>
          <a:lstStyle/>
          <a:p>
            <a:r>
              <a:rPr lang="fr-FR" dirty="0"/>
              <a:t>Classement T2</a:t>
            </a:r>
          </a:p>
        </p:txBody>
      </p:sp>
      <p:pic>
        <p:nvPicPr>
          <p:cNvPr id="7" name="Image 6" descr="Une image contenant texte, menu, capture d’écran, Police&#10;&#10;Le contenu généré par l’IA peut être incorrect.">
            <a:extLst>
              <a:ext uri="{FF2B5EF4-FFF2-40B4-BE49-F238E27FC236}">
                <a16:creationId xmlns:a16="http://schemas.microsoft.com/office/drawing/2014/main" id="{883906B1-D56E-0692-F1BC-BCC28B0360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10190" y="2123501"/>
            <a:ext cx="5544324" cy="3667637"/>
          </a:xfrm>
          <a:prstGeom prst="rect">
            <a:avLst/>
          </a:prstGeom>
        </p:spPr>
      </p:pic>
      <p:pic>
        <p:nvPicPr>
          <p:cNvPr id="9" name="Image 8">
            <a:extLst>
              <a:ext uri="{FF2B5EF4-FFF2-40B4-BE49-F238E27FC236}">
                <a16:creationId xmlns:a16="http://schemas.microsoft.com/office/drawing/2014/main" id="{1F760B45-3303-891B-9C71-0A4C079A0D45}"/>
              </a:ext>
            </a:extLst>
          </p:cNvPr>
          <p:cNvPicPr>
            <a:picLocks noChangeAspect="1"/>
          </p:cNvPicPr>
          <p:nvPr/>
        </p:nvPicPr>
        <p:blipFill>
          <a:blip r:embed="rId5">
            <a:extLst>
              <a:ext uri="{28A0092B-C50C-407E-A947-70E740481C1C}">
                <a14:useLocalDpi xmlns:a14="http://schemas.microsoft.com/office/drawing/2010/main" val="0"/>
              </a:ext>
            </a:extLst>
          </a:blip>
          <a:srcRect/>
          <a:stretch/>
        </p:blipFill>
        <p:spPr>
          <a:xfrm>
            <a:off x="248482" y="2123501"/>
            <a:ext cx="5477883" cy="3667637"/>
          </a:xfrm>
          <a:prstGeom prst="rect">
            <a:avLst/>
          </a:prstGeom>
        </p:spPr>
      </p:pic>
    </p:spTree>
    <p:extLst>
      <p:ext uri="{BB962C8B-B14F-4D97-AF65-F5344CB8AC3E}">
        <p14:creationId xmlns:p14="http://schemas.microsoft.com/office/powerpoint/2010/main" val="4240676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163C9-4831-1843-A6EF-5F38C592AC9C}"/>
            </a:ext>
          </a:extLst>
        </p:cNvPr>
        <p:cNvGrpSpPr/>
        <p:nvPr/>
      </p:nvGrpSpPr>
      <p:grpSpPr>
        <a:xfrm>
          <a:off x="0" y="0"/>
          <a:ext cx="0" cy="0"/>
          <a:chOff x="0" y="0"/>
          <a:chExt cx="0" cy="0"/>
        </a:xfrm>
      </p:grpSpPr>
      <p:pic>
        <p:nvPicPr>
          <p:cNvPr id="5" name="Image 4" descr="Une image contenant logo, Police, symbole, Graphique&#10;&#10;Le contenu généré par l’IA peut être incorrect.">
            <a:extLst>
              <a:ext uri="{FF2B5EF4-FFF2-40B4-BE49-F238E27FC236}">
                <a16:creationId xmlns:a16="http://schemas.microsoft.com/office/drawing/2014/main" id="{399B0C51-721C-C45C-93CD-97DC27C94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
        <p:nvSpPr>
          <p:cNvPr id="4" name="Titre 3">
            <a:extLst>
              <a:ext uri="{FF2B5EF4-FFF2-40B4-BE49-F238E27FC236}">
                <a16:creationId xmlns:a16="http://schemas.microsoft.com/office/drawing/2014/main" id="{33BF5FBC-2DDA-375F-75E0-02AE6B7C24AC}"/>
              </a:ext>
            </a:extLst>
          </p:cNvPr>
          <p:cNvSpPr txBox="1">
            <a:spLocks noGrp="1"/>
          </p:cNvSpPr>
          <p:nvPr>
            <p:ph type="ctrTitle"/>
          </p:nvPr>
        </p:nvSpPr>
        <p:spPr>
          <a:xfrm>
            <a:off x="4079722" y="225743"/>
            <a:ext cx="4664052" cy="538417"/>
          </a:xfrm>
          <a:prstGeom prst="rect">
            <a:avLst/>
          </a:prstGeom>
          <a:noFill/>
          <a:ln w="38100">
            <a:solidFill>
              <a:schemeClr val="accent1"/>
            </a:solidFill>
          </a:ln>
        </p:spPr>
        <p:txBody>
          <a:bodyPr wrap="square" rtlCol="0">
            <a:spAutoFit/>
          </a:bodyPr>
          <a:lstStyle/>
          <a:p>
            <a:r>
              <a:rPr lang="fr-FR" sz="3200" b="1" dirty="0" err="1"/>
              <a:t>Preprocessing</a:t>
            </a:r>
            <a:r>
              <a:rPr lang="fr-FR" sz="3200" b="1" dirty="0"/>
              <a:t> spécifique</a:t>
            </a:r>
          </a:p>
        </p:txBody>
      </p:sp>
      <p:pic>
        <p:nvPicPr>
          <p:cNvPr id="7" name="Image 6" descr="Une image contenant texte, capture d’écran, nombre, Police&#10;&#10;Le contenu généré par l’IA peut être incorrect.">
            <a:extLst>
              <a:ext uri="{FF2B5EF4-FFF2-40B4-BE49-F238E27FC236}">
                <a16:creationId xmlns:a16="http://schemas.microsoft.com/office/drawing/2014/main" id="{EC41AED7-670D-3EB2-1F74-8675B13F668B}"/>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3047008" y="992723"/>
            <a:ext cx="6097983" cy="5370325"/>
          </a:xfrm>
          <a:prstGeom prst="rect">
            <a:avLst/>
          </a:prstGeom>
        </p:spPr>
      </p:pic>
      <p:sp>
        <p:nvSpPr>
          <p:cNvPr id="8" name="ZoneTexte 7">
            <a:extLst>
              <a:ext uri="{FF2B5EF4-FFF2-40B4-BE49-F238E27FC236}">
                <a16:creationId xmlns:a16="http://schemas.microsoft.com/office/drawing/2014/main" id="{806176AC-7A59-AA59-BB56-39DEA08C5B5A}"/>
              </a:ext>
            </a:extLst>
          </p:cNvPr>
          <p:cNvSpPr txBox="1"/>
          <p:nvPr/>
        </p:nvSpPr>
        <p:spPr>
          <a:xfrm>
            <a:off x="4182011" y="1744662"/>
            <a:ext cx="1796967" cy="369332"/>
          </a:xfrm>
          <a:prstGeom prst="rect">
            <a:avLst/>
          </a:prstGeom>
          <a:noFill/>
        </p:spPr>
        <p:txBody>
          <a:bodyPr wrap="none" rtlCol="0">
            <a:spAutoFit/>
          </a:bodyPr>
          <a:lstStyle/>
          <a:p>
            <a:r>
              <a:rPr lang="fr-FR" dirty="0">
                <a:solidFill>
                  <a:schemeClr val="accent1"/>
                </a:solidFill>
              </a:rPr>
              <a:t>Test des </a:t>
            </a:r>
            <a:r>
              <a:rPr lang="fr-FR" dirty="0" err="1">
                <a:solidFill>
                  <a:schemeClr val="accent1"/>
                </a:solidFill>
              </a:rPr>
              <a:t>scaling</a:t>
            </a:r>
            <a:r>
              <a:rPr lang="fr-FR" dirty="0">
                <a:solidFill>
                  <a:schemeClr val="accent1"/>
                </a:solidFill>
              </a:rPr>
              <a:t> </a:t>
            </a:r>
          </a:p>
        </p:txBody>
      </p:sp>
      <p:sp>
        <p:nvSpPr>
          <p:cNvPr id="10" name="ZoneTexte 9">
            <a:extLst>
              <a:ext uri="{FF2B5EF4-FFF2-40B4-BE49-F238E27FC236}">
                <a16:creationId xmlns:a16="http://schemas.microsoft.com/office/drawing/2014/main" id="{63367C2C-404E-8BF3-68EB-24E9E8180A44}"/>
              </a:ext>
            </a:extLst>
          </p:cNvPr>
          <p:cNvSpPr txBox="1"/>
          <p:nvPr/>
        </p:nvSpPr>
        <p:spPr>
          <a:xfrm>
            <a:off x="4789117" y="4160321"/>
            <a:ext cx="1484991" cy="369332"/>
          </a:xfrm>
          <a:prstGeom prst="rect">
            <a:avLst/>
          </a:prstGeom>
          <a:noFill/>
        </p:spPr>
        <p:txBody>
          <a:bodyPr wrap="square">
            <a:spAutoFit/>
          </a:bodyPr>
          <a:lstStyle/>
          <a:p>
            <a:r>
              <a:rPr lang="fr-FR" dirty="0">
                <a:solidFill>
                  <a:schemeClr val="accent3"/>
                </a:solidFill>
              </a:rPr>
              <a:t>Test des ACP</a:t>
            </a:r>
          </a:p>
        </p:txBody>
      </p:sp>
      <p:sp>
        <p:nvSpPr>
          <p:cNvPr id="11" name="Rectangle 10">
            <a:extLst>
              <a:ext uri="{FF2B5EF4-FFF2-40B4-BE49-F238E27FC236}">
                <a16:creationId xmlns:a16="http://schemas.microsoft.com/office/drawing/2014/main" id="{11FE132D-289D-4B3A-1998-9CD2B1A3ED30}"/>
              </a:ext>
            </a:extLst>
          </p:cNvPr>
          <p:cNvSpPr/>
          <p:nvPr/>
        </p:nvSpPr>
        <p:spPr>
          <a:xfrm>
            <a:off x="6253841" y="1315482"/>
            <a:ext cx="315815" cy="5047566"/>
          </a:xfrm>
          <a:prstGeom prst="rect">
            <a:avLst/>
          </a:pr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Rectangle 11">
            <a:extLst>
              <a:ext uri="{FF2B5EF4-FFF2-40B4-BE49-F238E27FC236}">
                <a16:creationId xmlns:a16="http://schemas.microsoft.com/office/drawing/2014/main" id="{F9C22B08-B4C4-16DC-D51B-BE91ECB70A8F}"/>
              </a:ext>
            </a:extLst>
          </p:cNvPr>
          <p:cNvSpPr/>
          <p:nvPr/>
        </p:nvSpPr>
        <p:spPr>
          <a:xfrm>
            <a:off x="3406168" y="1311791"/>
            <a:ext cx="775843" cy="4234418"/>
          </a:xfrm>
          <a:prstGeom prst="rect">
            <a:avLst/>
          </a:pr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33229099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02CBD-6764-02AA-6BD8-1F33E0C2D2B4}"/>
            </a:ext>
          </a:extLst>
        </p:cNvPr>
        <p:cNvGrpSpPr/>
        <p:nvPr/>
      </p:nvGrpSpPr>
      <p:grpSpPr>
        <a:xfrm>
          <a:off x="0" y="0"/>
          <a:ext cx="0" cy="0"/>
          <a:chOff x="0" y="0"/>
          <a:chExt cx="0" cy="0"/>
        </a:xfrm>
      </p:grpSpPr>
      <p:pic>
        <p:nvPicPr>
          <p:cNvPr id="5" name="Image 4" descr="Une image contenant logo, Police, symbole, Graphique&#10;&#10;Le contenu généré par l’IA peut être incorrect.">
            <a:extLst>
              <a:ext uri="{FF2B5EF4-FFF2-40B4-BE49-F238E27FC236}">
                <a16:creationId xmlns:a16="http://schemas.microsoft.com/office/drawing/2014/main" id="{A92FAAC0-9989-26C5-6110-17D8BABFC2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
        <p:nvSpPr>
          <p:cNvPr id="4" name="Titre 3">
            <a:extLst>
              <a:ext uri="{FF2B5EF4-FFF2-40B4-BE49-F238E27FC236}">
                <a16:creationId xmlns:a16="http://schemas.microsoft.com/office/drawing/2014/main" id="{B175F0C6-8A61-4785-7DE4-E04C9A575BB2}"/>
              </a:ext>
            </a:extLst>
          </p:cNvPr>
          <p:cNvSpPr txBox="1">
            <a:spLocks noGrp="1"/>
          </p:cNvSpPr>
          <p:nvPr>
            <p:ph type="ctrTitle"/>
          </p:nvPr>
        </p:nvSpPr>
        <p:spPr>
          <a:xfrm>
            <a:off x="2451100" y="594434"/>
            <a:ext cx="2852420" cy="1424814"/>
          </a:xfrm>
          <a:prstGeom prst="rect">
            <a:avLst/>
          </a:prstGeom>
          <a:noFill/>
          <a:ln w="38100">
            <a:solidFill>
              <a:schemeClr val="accent1"/>
            </a:solidFill>
          </a:ln>
        </p:spPr>
        <p:txBody>
          <a:bodyPr wrap="square" rtlCol="0">
            <a:spAutoFit/>
          </a:bodyPr>
          <a:lstStyle/>
          <a:p>
            <a:r>
              <a:rPr lang="fr-FR" sz="3200" b="1" dirty="0" err="1"/>
              <a:t>Feature</a:t>
            </a:r>
            <a:r>
              <a:rPr lang="fr-FR" sz="3200" b="1" dirty="0"/>
              <a:t> Engineering spécifique </a:t>
            </a:r>
          </a:p>
        </p:txBody>
      </p:sp>
      <p:grpSp>
        <p:nvGrpSpPr>
          <p:cNvPr id="20" name="Groupe 19">
            <a:extLst>
              <a:ext uri="{FF2B5EF4-FFF2-40B4-BE49-F238E27FC236}">
                <a16:creationId xmlns:a16="http://schemas.microsoft.com/office/drawing/2014/main" id="{779E2E31-1414-2641-7BFC-3C09D100A3FE}"/>
              </a:ext>
            </a:extLst>
          </p:cNvPr>
          <p:cNvGrpSpPr/>
          <p:nvPr/>
        </p:nvGrpSpPr>
        <p:grpSpPr>
          <a:xfrm>
            <a:off x="5610389" y="467458"/>
            <a:ext cx="4200784" cy="1678766"/>
            <a:chOff x="4016375" y="494551"/>
            <a:chExt cx="4200784" cy="1678766"/>
          </a:xfrm>
        </p:grpSpPr>
        <p:pic>
          <p:nvPicPr>
            <p:cNvPr id="8" name="Image 7" descr="Une image contenant texte, capture d’écran, Police&#10;&#10;Le contenu généré par l’IA peut être incorrect.">
              <a:extLst>
                <a:ext uri="{FF2B5EF4-FFF2-40B4-BE49-F238E27FC236}">
                  <a16:creationId xmlns:a16="http://schemas.microsoft.com/office/drawing/2014/main" id="{5EEC5DC1-6DA0-D560-558F-99A8F42169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6375" y="494551"/>
              <a:ext cx="4200784" cy="1678766"/>
            </a:xfrm>
            <a:prstGeom prst="rect">
              <a:avLst/>
            </a:prstGeom>
          </p:spPr>
        </p:pic>
        <p:cxnSp>
          <p:nvCxnSpPr>
            <p:cNvPr id="10" name="Connecteur droit 9">
              <a:extLst>
                <a:ext uri="{FF2B5EF4-FFF2-40B4-BE49-F238E27FC236}">
                  <a16:creationId xmlns:a16="http://schemas.microsoft.com/office/drawing/2014/main" id="{00313918-AB31-9A08-FF67-47D17DE56726}"/>
                </a:ext>
              </a:extLst>
            </p:cNvPr>
            <p:cNvCxnSpPr>
              <a:cxnSpLocks/>
            </p:cNvCxnSpPr>
            <p:nvPr/>
          </p:nvCxnSpPr>
          <p:spPr>
            <a:xfrm>
              <a:off x="4097338" y="788245"/>
              <a:ext cx="3215481" cy="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11" name="Connecteur droit 10">
              <a:extLst>
                <a:ext uri="{FF2B5EF4-FFF2-40B4-BE49-F238E27FC236}">
                  <a16:creationId xmlns:a16="http://schemas.microsoft.com/office/drawing/2014/main" id="{0BCF168F-1752-1EEF-046A-B4EE851618C5}"/>
                </a:ext>
              </a:extLst>
            </p:cNvPr>
            <p:cNvCxnSpPr>
              <a:cxnSpLocks/>
            </p:cNvCxnSpPr>
            <p:nvPr/>
          </p:nvCxnSpPr>
          <p:spPr>
            <a:xfrm>
              <a:off x="6985000" y="933501"/>
              <a:ext cx="352848" cy="0"/>
            </a:xfrm>
            <a:prstGeom prst="line">
              <a:avLst/>
            </a:prstGeom>
            <a:ln w="9525"/>
          </p:spPr>
          <p:style>
            <a:lnRef idx="2">
              <a:schemeClr val="accent1"/>
            </a:lnRef>
            <a:fillRef idx="0">
              <a:schemeClr val="accent1"/>
            </a:fillRef>
            <a:effectRef idx="1">
              <a:schemeClr val="accent1"/>
            </a:effectRef>
            <a:fontRef idx="minor">
              <a:schemeClr val="tx1"/>
            </a:fontRef>
          </p:style>
        </p:cxnSp>
      </p:grpSp>
      <p:grpSp>
        <p:nvGrpSpPr>
          <p:cNvPr id="21" name="Groupe 20">
            <a:extLst>
              <a:ext uri="{FF2B5EF4-FFF2-40B4-BE49-F238E27FC236}">
                <a16:creationId xmlns:a16="http://schemas.microsoft.com/office/drawing/2014/main" id="{01AB897E-C757-FEB8-396E-604272CA84E4}"/>
              </a:ext>
            </a:extLst>
          </p:cNvPr>
          <p:cNvGrpSpPr/>
          <p:nvPr/>
        </p:nvGrpSpPr>
        <p:grpSpPr>
          <a:xfrm>
            <a:off x="2380827" y="2369917"/>
            <a:ext cx="7430346" cy="4361650"/>
            <a:chOff x="2380827" y="2369917"/>
            <a:chExt cx="7430346" cy="4361650"/>
          </a:xfrm>
        </p:grpSpPr>
        <p:pic>
          <p:nvPicPr>
            <p:cNvPr id="3" name="Image 2" descr="Une image contenant texte, capture d’écran&#10;&#10;Le contenu généré par l’IA peut être incorrect.">
              <a:extLst>
                <a:ext uri="{FF2B5EF4-FFF2-40B4-BE49-F238E27FC236}">
                  <a16:creationId xmlns:a16="http://schemas.microsoft.com/office/drawing/2014/main" id="{E3894808-2BB4-FD7B-CDA3-C2E4AC74CEE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380827" y="2369917"/>
              <a:ext cx="7430346" cy="4361650"/>
            </a:xfrm>
            <a:prstGeom prst="rect">
              <a:avLst/>
            </a:prstGeom>
          </p:spPr>
        </p:pic>
        <p:cxnSp>
          <p:nvCxnSpPr>
            <p:cNvPr id="14" name="Connecteur droit 13">
              <a:extLst>
                <a:ext uri="{FF2B5EF4-FFF2-40B4-BE49-F238E27FC236}">
                  <a16:creationId xmlns:a16="http://schemas.microsoft.com/office/drawing/2014/main" id="{4419DE64-45DC-5310-77E9-F13B98E73B15}"/>
                </a:ext>
              </a:extLst>
            </p:cNvPr>
            <p:cNvCxnSpPr>
              <a:cxnSpLocks/>
            </p:cNvCxnSpPr>
            <p:nvPr/>
          </p:nvCxnSpPr>
          <p:spPr>
            <a:xfrm>
              <a:off x="4740275" y="2692451"/>
              <a:ext cx="473075" cy="0"/>
            </a:xfrm>
            <a:prstGeom prst="line">
              <a:avLst/>
            </a:prstGeom>
            <a:ln w="9525"/>
          </p:spPr>
          <p:style>
            <a:lnRef idx="2">
              <a:schemeClr val="accent1"/>
            </a:lnRef>
            <a:fillRef idx="0">
              <a:schemeClr val="accent1"/>
            </a:fillRef>
            <a:effectRef idx="1">
              <a:schemeClr val="accent1"/>
            </a:effectRef>
            <a:fontRef idx="minor">
              <a:schemeClr val="tx1"/>
            </a:fontRef>
          </p:style>
        </p:cxnSp>
        <p:cxnSp>
          <p:nvCxnSpPr>
            <p:cNvPr id="16" name="Connecteur droit 15">
              <a:extLst>
                <a:ext uri="{FF2B5EF4-FFF2-40B4-BE49-F238E27FC236}">
                  <a16:creationId xmlns:a16="http://schemas.microsoft.com/office/drawing/2014/main" id="{195AD09C-20C2-741F-5088-1B38FEB86B83}"/>
                </a:ext>
              </a:extLst>
            </p:cNvPr>
            <p:cNvCxnSpPr>
              <a:cxnSpLocks/>
            </p:cNvCxnSpPr>
            <p:nvPr/>
          </p:nvCxnSpPr>
          <p:spPr>
            <a:xfrm>
              <a:off x="5859674" y="2692451"/>
              <a:ext cx="3141451" cy="0"/>
            </a:xfrm>
            <a:prstGeom prst="line">
              <a:avLst/>
            </a:prstGeom>
            <a:ln w="9525"/>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32411927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02FEB-BC32-0AE4-C4E6-B1A35A8542C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28C46DA-04A7-9F99-945F-4F7C7513D0A8}"/>
              </a:ext>
            </a:extLst>
          </p:cNvPr>
          <p:cNvSpPr>
            <a:spLocks noGrp="1"/>
          </p:cNvSpPr>
          <p:nvPr>
            <p:ph type="ctrTitle"/>
          </p:nvPr>
        </p:nvSpPr>
        <p:spPr>
          <a:xfrm>
            <a:off x="3218106" y="289925"/>
            <a:ext cx="5755787" cy="802102"/>
          </a:xfrm>
          <a:ln w="57150">
            <a:solidFill>
              <a:schemeClr val="accent1"/>
            </a:solidFill>
          </a:ln>
        </p:spPr>
        <p:txBody>
          <a:bodyPr>
            <a:normAutofit/>
          </a:bodyPr>
          <a:lstStyle/>
          <a:p>
            <a:r>
              <a:rPr lang="fr-FR" sz="3600" b="1" dirty="0"/>
              <a:t>Modèle : améliorations data</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66A227AF-55DC-1AEC-1444-3C93077225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graphicFrame>
        <p:nvGraphicFramePr>
          <p:cNvPr id="18" name="Tableau 17">
            <a:extLst>
              <a:ext uri="{FF2B5EF4-FFF2-40B4-BE49-F238E27FC236}">
                <a16:creationId xmlns:a16="http://schemas.microsoft.com/office/drawing/2014/main" id="{6770427B-160A-5BA7-5AEF-5658DD97369C}"/>
              </a:ext>
            </a:extLst>
          </p:cNvPr>
          <p:cNvGraphicFramePr>
            <a:graphicFrameLocks noGrp="1"/>
          </p:cNvGraphicFramePr>
          <p:nvPr>
            <p:extLst>
              <p:ext uri="{D42A27DB-BD31-4B8C-83A1-F6EECF244321}">
                <p14:modId xmlns:p14="http://schemas.microsoft.com/office/powerpoint/2010/main" val="3851870224"/>
              </p:ext>
            </p:extLst>
          </p:nvPr>
        </p:nvGraphicFramePr>
        <p:xfrm>
          <a:off x="646853" y="2954638"/>
          <a:ext cx="10898292" cy="3007862"/>
        </p:xfrm>
        <a:graphic>
          <a:graphicData uri="http://schemas.openxmlformats.org/drawingml/2006/table">
            <a:tbl>
              <a:tblPr firstRow="1" bandRow="1">
                <a:tableStyleId>{5C22544A-7EE6-4342-B048-85BDC9FD1C3A}</a:tableStyleId>
              </a:tblPr>
              <a:tblGrid>
                <a:gridCol w="2580641">
                  <a:extLst>
                    <a:ext uri="{9D8B030D-6E8A-4147-A177-3AD203B41FA5}">
                      <a16:colId xmlns:a16="http://schemas.microsoft.com/office/drawing/2014/main" val="3058593553"/>
                    </a:ext>
                  </a:extLst>
                </a:gridCol>
                <a:gridCol w="2540000">
                  <a:extLst>
                    <a:ext uri="{9D8B030D-6E8A-4147-A177-3AD203B41FA5}">
                      <a16:colId xmlns:a16="http://schemas.microsoft.com/office/drawing/2014/main" val="1713363230"/>
                    </a:ext>
                  </a:extLst>
                </a:gridCol>
                <a:gridCol w="2580640">
                  <a:extLst>
                    <a:ext uri="{9D8B030D-6E8A-4147-A177-3AD203B41FA5}">
                      <a16:colId xmlns:a16="http://schemas.microsoft.com/office/drawing/2014/main" val="3100103321"/>
                    </a:ext>
                  </a:extLst>
                </a:gridCol>
                <a:gridCol w="3197011">
                  <a:extLst>
                    <a:ext uri="{9D8B030D-6E8A-4147-A177-3AD203B41FA5}">
                      <a16:colId xmlns:a16="http://schemas.microsoft.com/office/drawing/2014/main" val="2908878655"/>
                    </a:ext>
                  </a:extLst>
                </a:gridCol>
              </a:tblGrid>
              <a:tr h="779816">
                <a:tc>
                  <a:txBody>
                    <a:bodyPr/>
                    <a:lstStyle/>
                    <a:p>
                      <a:r>
                        <a:rPr lang="fr-FR" dirty="0"/>
                        <a:t>Data - améliorations</a:t>
                      </a:r>
                    </a:p>
                  </a:txBody>
                  <a:tcPr/>
                </a:tc>
                <a:tc>
                  <a:txBody>
                    <a:bodyPr/>
                    <a:lstStyle/>
                    <a:p>
                      <a:r>
                        <a:rPr lang="fr-FR" dirty="0" err="1"/>
                        <a:t>Feature</a:t>
                      </a:r>
                      <a:r>
                        <a:rPr lang="fr-FR" dirty="0"/>
                        <a:t> engineering</a:t>
                      </a:r>
                    </a:p>
                  </a:txBody>
                  <a:tcPr/>
                </a:tc>
                <a:tc>
                  <a:txBody>
                    <a:bodyPr/>
                    <a:lstStyle/>
                    <a:p>
                      <a:r>
                        <a:rPr lang="fr-FR" dirty="0"/>
                        <a:t>ACP et </a:t>
                      </a:r>
                      <a:r>
                        <a:rPr lang="fr-FR" dirty="0" err="1"/>
                        <a:t>Scaling</a:t>
                      </a:r>
                      <a:endParaRPr lang="fr-FR" dirty="0"/>
                    </a:p>
                  </a:txBody>
                  <a:tcPr/>
                </a:tc>
                <a:tc>
                  <a:txBody>
                    <a:bodyPr/>
                    <a:lstStyle/>
                    <a:p>
                      <a:r>
                        <a:rPr lang="fr-FR" dirty="0" err="1"/>
                        <a:t>Recursive</a:t>
                      </a:r>
                      <a:r>
                        <a:rPr lang="fr-FR" dirty="0"/>
                        <a:t> </a:t>
                      </a:r>
                      <a:r>
                        <a:rPr lang="fr-FR" dirty="0" err="1"/>
                        <a:t>Feature</a:t>
                      </a:r>
                      <a:r>
                        <a:rPr lang="fr-FR" dirty="0"/>
                        <a:t> Elimination</a:t>
                      </a:r>
                    </a:p>
                  </a:txBody>
                  <a:tcPr/>
                </a:tc>
                <a:extLst>
                  <a:ext uri="{0D108BD9-81ED-4DB2-BD59-A6C34878D82A}">
                    <a16:rowId xmlns:a16="http://schemas.microsoft.com/office/drawing/2014/main" val="4036945421"/>
                  </a:ext>
                </a:extLst>
              </a:tr>
              <a:tr h="1114023">
                <a:tc>
                  <a:txBody>
                    <a:bodyPr/>
                    <a:lstStyle/>
                    <a:p>
                      <a:r>
                        <a:rPr lang="fr-FR" dirty="0" err="1"/>
                        <a:t>df</a:t>
                      </a:r>
                      <a:endParaRPr lang="fr-FR" dirty="0"/>
                    </a:p>
                  </a:txBody>
                  <a:tcPr/>
                </a:tc>
                <a:tc>
                  <a:txBody>
                    <a:bodyPr/>
                    <a:lstStyle/>
                    <a:p>
                      <a:r>
                        <a:rPr lang="fr-FR" dirty="0" err="1"/>
                        <a:t>Df_Feng</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Df_Feng_std_ACP35</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Df_Feng_std_ACP35_RFE75</a:t>
                      </a:r>
                    </a:p>
                    <a:p>
                      <a:endParaRPr lang="fr-FR" dirty="0"/>
                    </a:p>
                  </a:txBody>
                  <a:tcPr/>
                </a:tc>
                <a:extLst>
                  <a:ext uri="{0D108BD9-81ED-4DB2-BD59-A6C34878D82A}">
                    <a16:rowId xmlns:a16="http://schemas.microsoft.com/office/drawing/2014/main" val="594660664"/>
                  </a:ext>
                </a:extLst>
              </a:tr>
              <a:tr h="1114023">
                <a:tc>
                  <a:txBody>
                    <a:bodyPr/>
                    <a:lstStyle/>
                    <a:p>
                      <a:r>
                        <a:rPr lang="fr-FR" dirty="0" err="1"/>
                        <a:t>df_summed</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Df_summed</a:t>
                      </a:r>
                      <a:endParaRPr lang="fr-FR"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Df_summed_ACP23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err="1"/>
                        <a:t>df</a:t>
                      </a:r>
                      <a:r>
                        <a:rPr lang="fr-FR" dirty="0"/>
                        <a:t>_ Rob_ACP35_RFE60</a:t>
                      </a:r>
                    </a:p>
                  </a:txBody>
                  <a:tcPr/>
                </a:tc>
                <a:extLst>
                  <a:ext uri="{0D108BD9-81ED-4DB2-BD59-A6C34878D82A}">
                    <a16:rowId xmlns:a16="http://schemas.microsoft.com/office/drawing/2014/main" val="505983949"/>
                  </a:ext>
                </a:extLst>
              </a:tr>
            </a:tbl>
          </a:graphicData>
        </a:graphic>
      </p:graphicFrame>
      <p:sp>
        <p:nvSpPr>
          <p:cNvPr id="19" name="Titre 1">
            <a:extLst>
              <a:ext uri="{FF2B5EF4-FFF2-40B4-BE49-F238E27FC236}">
                <a16:creationId xmlns:a16="http://schemas.microsoft.com/office/drawing/2014/main" id="{41487C5F-9987-E396-94E4-7B670EC49FEC}"/>
              </a:ext>
            </a:extLst>
          </p:cNvPr>
          <p:cNvSpPr txBox="1">
            <a:spLocks/>
          </p:cNvSpPr>
          <p:nvPr/>
        </p:nvSpPr>
        <p:spPr>
          <a:xfrm>
            <a:off x="4381425" y="1664116"/>
            <a:ext cx="3429148" cy="948727"/>
          </a:xfrm>
          <a:prstGeom prst="rect">
            <a:avLst/>
          </a:prstGeom>
          <a:ln w="12700">
            <a:solidFill>
              <a:schemeClr val="accent1"/>
            </a:solidFill>
          </a:ln>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fr-FR" sz="2800" dirty="0"/>
              <a:t>Récapitulatif</a:t>
            </a:r>
          </a:p>
          <a:p>
            <a:r>
              <a:rPr lang="fr-FR" sz="2800" dirty="0"/>
              <a:t>Exemple pour T1</a:t>
            </a:r>
          </a:p>
        </p:txBody>
      </p:sp>
    </p:spTree>
    <p:extLst>
      <p:ext uri="{BB962C8B-B14F-4D97-AF65-F5344CB8AC3E}">
        <p14:creationId xmlns:p14="http://schemas.microsoft.com/office/powerpoint/2010/main" val="3901618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4657F-4858-A23F-D5F9-71542811855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EC97BEA-0293-56A5-8684-53BC976EE396}"/>
              </a:ext>
            </a:extLst>
          </p:cNvPr>
          <p:cNvSpPr>
            <a:spLocks noGrp="1"/>
          </p:cNvSpPr>
          <p:nvPr>
            <p:ph type="ctrTitle"/>
          </p:nvPr>
        </p:nvSpPr>
        <p:spPr>
          <a:xfrm>
            <a:off x="3283225" y="134040"/>
            <a:ext cx="5625548" cy="773216"/>
          </a:xfrm>
          <a:ln w="38100">
            <a:solidFill>
              <a:schemeClr val="accent1"/>
            </a:solidFill>
          </a:ln>
        </p:spPr>
        <p:txBody>
          <a:bodyPr>
            <a:normAutofit/>
          </a:bodyPr>
          <a:lstStyle/>
          <a:p>
            <a:r>
              <a:rPr lang="fr-FR" sz="3600" b="1" dirty="0"/>
              <a:t>Modèles : paramétrages</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AF957537-FC44-9257-B3DB-FC8FD3E44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sp>
        <p:nvSpPr>
          <p:cNvPr id="4" name="ZoneTexte 3">
            <a:extLst>
              <a:ext uri="{FF2B5EF4-FFF2-40B4-BE49-F238E27FC236}">
                <a16:creationId xmlns:a16="http://schemas.microsoft.com/office/drawing/2014/main" id="{F97064F0-E275-B44E-0170-EFA9D521BEA8}"/>
              </a:ext>
            </a:extLst>
          </p:cNvPr>
          <p:cNvSpPr txBox="1"/>
          <p:nvPr/>
        </p:nvSpPr>
        <p:spPr>
          <a:xfrm>
            <a:off x="1755755" y="1116147"/>
            <a:ext cx="2165593" cy="369332"/>
          </a:xfrm>
          <a:prstGeom prst="rect">
            <a:avLst/>
          </a:prstGeom>
          <a:noFill/>
          <a:ln>
            <a:solidFill>
              <a:schemeClr val="accent1"/>
            </a:solidFill>
          </a:ln>
        </p:spPr>
        <p:txBody>
          <a:bodyPr wrap="none" rtlCol="0">
            <a:spAutoFit/>
          </a:bodyPr>
          <a:lstStyle/>
          <a:p>
            <a:r>
              <a:rPr lang="fr-FR" dirty="0"/>
              <a:t>0. Hyperparamètres</a:t>
            </a:r>
          </a:p>
        </p:txBody>
      </p:sp>
      <p:sp>
        <p:nvSpPr>
          <p:cNvPr id="6" name="ZoneTexte 5">
            <a:extLst>
              <a:ext uri="{FF2B5EF4-FFF2-40B4-BE49-F238E27FC236}">
                <a16:creationId xmlns:a16="http://schemas.microsoft.com/office/drawing/2014/main" id="{1FCA586A-E167-B833-05EF-5E425381299F}"/>
              </a:ext>
            </a:extLst>
          </p:cNvPr>
          <p:cNvSpPr txBox="1"/>
          <p:nvPr/>
        </p:nvSpPr>
        <p:spPr>
          <a:xfrm>
            <a:off x="5090852" y="1107421"/>
            <a:ext cx="2010294" cy="369332"/>
          </a:xfrm>
          <a:prstGeom prst="rect">
            <a:avLst/>
          </a:prstGeom>
          <a:noFill/>
          <a:ln>
            <a:solidFill>
              <a:schemeClr val="accent1"/>
            </a:solidFill>
          </a:ln>
        </p:spPr>
        <p:txBody>
          <a:bodyPr wrap="none" rtlCol="0">
            <a:spAutoFit/>
          </a:bodyPr>
          <a:lstStyle/>
          <a:p>
            <a:r>
              <a:rPr lang="fr-FR" dirty="0"/>
              <a:t>1. </a:t>
            </a:r>
            <a:r>
              <a:rPr lang="fr-FR" dirty="0" err="1"/>
              <a:t>Random</a:t>
            </a:r>
            <a:r>
              <a:rPr lang="fr-FR" dirty="0"/>
              <a:t> </a:t>
            </a:r>
            <a:r>
              <a:rPr lang="fr-FR" dirty="0" err="1"/>
              <a:t>Search</a:t>
            </a:r>
            <a:endParaRPr lang="fr-FR" dirty="0"/>
          </a:p>
        </p:txBody>
      </p:sp>
      <p:sp>
        <p:nvSpPr>
          <p:cNvPr id="7" name="ZoneTexte 6">
            <a:extLst>
              <a:ext uri="{FF2B5EF4-FFF2-40B4-BE49-F238E27FC236}">
                <a16:creationId xmlns:a16="http://schemas.microsoft.com/office/drawing/2014/main" id="{EF303639-9B3D-0E9F-B46A-F48162ADA9AC}"/>
              </a:ext>
            </a:extLst>
          </p:cNvPr>
          <p:cNvSpPr txBox="1"/>
          <p:nvPr/>
        </p:nvSpPr>
        <p:spPr>
          <a:xfrm>
            <a:off x="8727897" y="1107421"/>
            <a:ext cx="1588961" cy="369332"/>
          </a:xfrm>
          <a:prstGeom prst="rect">
            <a:avLst/>
          </a:prstGeom>
          <a:noFill/>
          <a:ln>
            <a:solidFill>
              <a:schemeClr val="accent1"/>
            </a:solidFill>
          </a:ln>
        </p:spPr>
        <p:txBody>
          <a:bodyPr wrap="none" rtlCol="0">
            <a:spAutoFit/>
          </a:bodyPr>
          <a:lstStyle/>
          <a:p>
            <a:r>
              <a:rPr lang="fr-FR" dirty="0"/>
              <a:t>2. </a:t>
            </a:r>
            <a:r>
              <a:rPr lang="fr-FR" dirty="0" err="1"/>
              <a:t>Grid</a:t>
            </a:r>
            <a:r>
              <a:rPr lang="fr-FR" dirty="0"/>
              <a:t> </a:t>
            </a:r>
            <a:r>
              <a:rPr lang="fr-FR" dirty="0" err="1"/>
              <a:t>Search</a:t>
            </a:r>
            <a:endParaRPr lang="fr-FR" dirty="0"/>
          </a:p>
        </p:txBody>
      </p:sp>
      <p:pic>
        <p:nvPicPr>
          <p:cNvPr id="9" name="Image 8" descr="Une image contenant texte, diagramme, Plan, ligne&#10;&#10;Le contenu généré par l’IA peut être incorrect.">
            <a:extLst>
              <a:ext uri="{FF2B5EF4-FFF2-40B4-BE49-F238E27FC236}">
                <a16:creationId xmlns:a16="http://schemas.microsoft.com/office/drawing/2014/main" id="{EF92DC61-3482-7114-4882-04A9DF178D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9379" y="1582092"/>
            <a:ext cx="9873239" cy="5039644"/>
          </a:xfrm>
          <a:prstGeom prst="rect">
            <a:avLst/>
          </a:prstGeom>
        </p:spPr>
      </p:pic>
      <p:sp>
        <p:nvSpPr>
          <p:cNvPr id="10" name="ZoneTexte 9">
            <a:extLst>
              <a:ext uri="{FF2B5EF4-FFF2-40B4-BE49-F238E27FC236}">
                <a16:creationId xmlns:a16="http://schemas.microsoft.com/office/drawing/2014/main" id="{67177B38-E024-DE61-D8DC-6EED15094A24}"/>
              </a:ext>
            </a:extLst>
          </p:cNvPr>
          <p:cNvSpPr txBox="1"/>
          <p:nvPr/>
        </p:nvSpPr>
        <p:spPr>
          <a:xfrm>
            <a:off x="7992533" y="5139193"/>
            <a:ext cx="2653675" cy="369332"/>
          </a:xfrm>
          <a:prstGeom prst="rect">
            <a:avLst/>
          </a:prstGeom>
          <a:noFill/>
          <a:ln>
            <a:solidFill>
              <a:schemeClr val="accent1"/>
            </a:solidFill>
          </a:ln>
        </p:spPr>
        <p:txBody>
          <a:bodyPr wrap="none" rtlCol="0">
            <a:spAutoFit/>
          </a:bodyPr>
          <a:lstStyle/>
          <a:p>
            <a:r>
              <a:rPr lang="fr-FR" dirty="0" err="1"/>
              <a:t>RandomForestRegressor</a:t>
            </a:r>
            <a:endParaRPr lang="fr-FR" dirty="0"/>
          </a:p>
        </p:txBody>
      </p:sp>
    </p:spTree>
    <p:extLst>
      <p:ext uri="{BB962C8B-B14F-4D97-AF65-F5344CB8AC3E}">
        <p14:creationId xmlns:p14="http://schemas.microsoft.com/office/powerpoint/2010/main" val="4159730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1B99C-DF40-9F53-1EF1-56986411C2F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3685C444-1B97-3C01-20C6-17B10C40E2A7}"/>
              </a:ext>
            </a:extLst>
          </p:cNvPr>
          <p:cNvSpPr>
            <a:spLocks noGrp="1"/>
          </p:cNvSpPr>
          <p:nvPr>
            <p:ph type="ctrTitle"/>
          </p:nvPr>
        </p:nvSpPr>
        <p:spPr>
          <a:xfrm>
            <a:off x="3481786" y="215479"/>
            <a:ext cx="5228425" cy="1110628"/>
          </a:xfrm>
          <a:ln w="38100">
            <a:solidFill>
              <a:schemeClr val="accent1"/>
            </a:solidFill>
          </a:ln>
        </p:spPr>
        <p:txBody>
          <a:bodyPr>
            <a:noAutofit/>
          </a:bodyPr>
          <a:lstStyle/>
          <a:p>
            <a:r>
              <a:rPr lang="fr-FR" sz="3600" dirty="0"/>
              <a:t>Analyse finale : T1</a:t>
            </a:r>
            <a:br>
              <a:rPr lang="fr-FR" sz="3600" dirty="0"/>
            </a:br>
            <a:r>
              <a:rPr lang="fr-FR" sz="3600" dirty="0" err="1"/>
              <a:t>SiteEUIWN</a:t>
            </a:r>
            <a:r>
              <a:rPr lang="fr-FR" sz="3600" dirty="0"/>
              <a:t>(</a:t>
            </a:r>
            <a:r>
              <a:rPr lang="fr-FR" sz="3600" dirty="0" err="1"/>
              <a:t>kBtu</a:t>
            </a:r>
            <a:r>
              <a:rPr lang="fr-FR" sz="3600" dirty="0"/>
              <a:t>/</a:t>
            </a:r>
            <a:r>
              <a:rPr lang="fr-FR" sz="3600" dirty="0" err="1"/>
              <a:t>sf</a:t>
            </a:r>
            <a:r>
              <a:rPr lang="fr-FR" sz="3600" dirty="0"/>
              <a:t>)</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60EDB260-37CE-4D39-4749-9DB2074869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9" name="Image 8" descr="Une image contenant texte, Tracé, ligne, diagramme&#10;&#10;Le contenu généré par l’IA peut être incorrect.">
            <a:extLst>
              <a:ext uri="{FF2B5EF4-FFF2-40B4-BE49-F238E27FC236}">
                <a16:creationId xmlns:a16="http://schemas.microsoft.com/office/drawing/2014/main" id="{8380EBAA-1756-F739-F1F1-A78C407EDAED}"/>
              </a:ext>
            </a:extLst>
          </p:cNvPr>
          <p:cNvPicPr>
            <a:picLocks noGrp="1" noRot="1" noChangeAspect="1" noMove="1" noResize="1" noEditPoints="1" noAdjustHandles="1" noChangeArrowheads="1" noChangeShapeType="1" noCrop="1"/>
          </p:cNvPicPr>
          <p:nvPr/>
        </p:nvPicPr>
        <p:blipFill>
          <a:blip r:embed="rId4">
            <a:extLst>
              <a:ext uri="{28A0092B-C50C-407E-A947-70E740481C1C}">
                <a14:useLocalDpi xmlns:a14="http://schemas.microsoft.com/office/drawing/2010/main" val="0"/>
              </a:ext>
            </a:extLst>
          </a:blip>
          <a:stretch>
            <a:fillRect/>
          </a:stretch>
        </p:blipFill>
        <p:spPr>
          <a:xfrm>
            <a:off x="701029" y="1575252"/>
            <a:ext cx="10789941" cy="4389129"/>
          </a:xfrm>
          <a:prstGeom prst="rect">
            <a:avLst/>
          </a:prstGeom>
        </p:spPr>
      </p:pic>
      <p:sp>
        <p:nvSpPr>
          <p:cNvPr id="10" name="ZoneTexte 9">
            <a:extLst>
              <a:ext uri="{FF2B5EF4-FFF2-40B4-BE49-F238E27FC236}">
                <a16:creationId xmlns:a16="http://schemas.microsoft.com/office/drawing/2014/main" id="{2980D582-C72F-DE24-BDF0-C7E182DBA941}"/>
              </a:ext>
            </a:extLst>
          </p:cNvPr>
          <p:cNvSpPr txBox="1"/>
          <p:nvPr/>
        </p:nvSpPr>
        <p:spPr>
          <a:xfrm>
            <a:off x="2072641" y="6033619"/>
            <a:ext cx="3400212" cy="738664"/>
          </a:xfrm>
          <a:prstGeom prst="rect">
            <a:avLst/>
          </a:prstGeom>
          <a:noFill/>
        </p:spPr>
        <p:txBody>
          <a:bodyPr wrap="square" rtlCol="0">
            <a:spAutoFit/>
          </a:bodyPr>
          <a:lstStyle/>
          <a:p>
            <a:r>
              <a:rPr lang="pt-BR" sz="1400" b="0" i="0" dirty="0">
                <a:solidFill>
                  <a:schemeClr val="accent1"/>
                </a:solidFill>
                <a:effectLst/>
                <a:latin typeface="Consolas" panose="020B0609020204030204" pitchFamily="49" charset="0"/>
              </a:rPr>
              <a:t>Score on test set: </a:t>
            </a:r>
          </a:p>
          <a:p>
            <a:r>
              <a:rPr lang="pt-BR" sz="1400" b="0" i="0" dirty="0">
                <a:solidFill>
                  <a:schemeClr val="accent1"/>
                </a:solidFill>
                <a:effectLst/>
                <a:latin typeface="Consolas" panose="020B0609020204030204" pitchFamily="49" charset="0"/>
              </a:rPr>
              <a:t>R² : 0.4418 MAE : 31.2175 </a:t>
            </a:r>
          </a:p>
          <a:p>
            <a:r>
              <a:rPr lang="pt-BR" sz="1400" b="0" i="0" dirty="0">
                <a:solidFill>
                  <a:schemeClr val="accent1"/>
                </a:solidFill>
                <a:effectLst/>
                <a:latin typeface="Consolas" panose="020B0609020204030204" pitchFamily="49" charset="0"/>
              </a:rPr>
              <a:t>MSE : 1927.9629 RMSE : 43.9086</a:t>
            </a:r>
            <a:endParaRPr lang="fr-FR" sz="1400" dirty="0">
              <a:solidFill>
                <a:schemeClr val="accent1"/>
              </a:solidFill>
            </a:endParaRPr>
          </a:p>
        </p:txBody>
      </p:sp>
      <p:sp>
        <p:nvSpPr>
          <p:cNvPr id="12" name="ZoneTexte 11">
            <a:extLst>
              <a:ext uri="{FF2B5EF4-FFF2-40B4-BE49-F238E27FC236}">
                <a16:creationId xmlns:a16="http://schemas.microsoft.com/office/drawing/2014/main" id="{FD2E80E0-672C-4C8F-E248-1C33867994D1}"/>
              </a:ext>
            </a:extLst>
          </p:cNvPr>
          <p:cNvSpPr txBox="1"/>
          <p:nvPr/>
        </p:nvSpPr>
        <p:spPr>
          <a:xfrm>
            <a:off x="7757890" y="5964381"/>
            <a:ext cx="3152997" cy="738664"/>
          </a:xfrm>
          <a:prstGeom prst="rect">
            <a:avLst/>
          </a:prstGeom>
          <a:noFill/>
        </p:spPr>
        <p:txBody>
          <a:bodyPr wrap="square">
            <a:spAutoFit/>
          </a:bodyPr>
          <a:lstStyle/>
          <a:p>
            <a:r>
              <a:rPr lang="fr-FR" sz="1400" b="0" i="0" dirty="0">
                <a:solidFill>
                  <a:schemeClr val="accent1"/>
                </a:solidFill>
                <a:effectLst/>
                <a:latin typeface="Consolas" panose="020B0609020204030204" pitchFamily="49" charset="0"/>
              </a:rPr>
              <a:t>Scores on train set: </a:t>
            </a:r>
          </a:p>
          <a:p>
            <a:r>
              <a:rPr lang="fr-FR" sz="1400" b="0" i="0" dirty="0">
                <a:solidFill>
                  <a:schemeClr val="accent1"/>
                </a:solidFill>
                <a:effectLst/>
                <a:latin typeface="Consolas" panose="020B0609020204030204" pitchFamily="49" charset="0"/>
              </a:rPr>
              <a:t>R² : 0.9108 MAE : 12.1525 </a:t>
            </a:r>
          </a:p>
          <a:p>
            <a:r>
              <a:rPr lang="fr-FR" sz="1400" b="0" i="0" dirty="0">
                <a:solidFill>
                  <a:schemeClr val="accent1"/>
                </a:solidFill>
                <a:effectLst/>
                <a:latin typeface="Consolas" panose="020B0609020204030204" pitchFamily="49" charset="0"/>
              </a:rPr>
              <a:t>MSE : 286.9923 RMSE : 16.9408</a:t>
            </a:r>
            <a:endParaRPr lang="fr-FR" sz="1400" dirty="0">
              <a:solidFill>
                <a:schemeClr val="accent1"/>
              </a:solidFill>
            </a:endParaRPr>
          </a:p>
        </p:txBody>
      </p:sp>
      <p:sp>
        <p:nvSpPr>
          <p:cNvPr id="13" name="ZoneTexte 12">
            <a:extLst>
              <a:ext uri="{FF2B5EF4-FFF2-40B4-BE49-F238E27FC236}">
                <a16:creationId xmlns:a16="http://schemas.microsoft.com/office/drawing/2014/main" id="{8E58CF2A-6E06-E602-3708-88C3597FA211}"/>
              </a:ext>
            </a:extLst>
          </p:cNvPr>
          <p:cNvSpPr txBox="1"/>
          <p:nvPr/>
        </p:nvSpPr>
        <p:spPr>
          <a:xfrm>
            <a:off x="4605866" y="4454510"/>
            <a:ext cx="653210" cy="253916"/>
          </a:xfrm>
          <a:prstGeom prst="rect">
            <a:avLst/>
          </a:prstGeom>
          <a:noFill/>
        </p:spPr>
        <p:txBody>
          <a:bodyPr wrap="square" rtlCol="0">
            <a:spAutoFit/>
          </a:bodyPr>
          <a:lstStyle/>
          <a:p>
            <a:r>
              <a:rPr lang="fr-FR" sz="1050" dirty="0"/>
              <a:t>ID 1283</a:t>
            </a:r>
          </a:p>
        </p:txBody>
      </p:sp>
      <p:sp>
        <p:nvSpPr>
          <p:cNvPr id="14" name="ZoneTexte 13">
            <a:extLst>
              <a:ext uri="{FF2B5EF4-FFF2-40B4-BE49-F238E27FC236}">
                <a16:creationId xmlns:a16="http://schemas.microsoft.com/office/drawing/2014/main" id="{7CB5ED4C-C02E-E38E-1408-9FB8624FC6C1}"/>
              </a:ext>
            </a:extLst>
          </p:cNvPr>
          <p:cNvSpPr txBox="1"/>
          <p:nvPr/>
        </p:nvSpPr>
        <p:spPr>
          <a:xfrm>
            <a:off x="5069104" y="3889511"/>
            <a:ext cx="572593" cy="261610"/>
          </a:xfrm>
          <a:prstGeom prst="rect">
            <a:avLst/>
          </a:prstGeom>
          <a:noFill/>
        </p:spPr>
        <p:txBody>
          <a:bodyPr wrap="none" rtlCol="0">
            <a:spAutoFit/>
          </a:bodyPr>
          <a:lstStyle/>
          <a:p>
            <a:r>
              <a:rPr lang="fr-FR" sz="1050" dirty="0"/>
              <a:t>ID 341</a:t>
            </a:r>
          </a:p>
        </p:txBody>
      </p:sp>
      <p:cxnSp>
        <p:nvCxnSpPr>
          <p:cNvPr id="16" name="Connecteur droit avec flèche 15">
            <a:extLst>
              <a:ext uri="{FF2B5EF4-FFF2-40B4-BE49-F238E27FC236}">
                <a16:creationId xmlns:a16="http://schemas.microsoft.com/office/drawing/2014/main" id="{E66256AB-C6CB-62BA-6F69-0BF86E919D6D}"/>
              </a:ext>
            </a:extLst>
          </p:cNvPr>
          <p:cNvCxnSpPr>
            <a:cxnSpLocks/>
          </p:cNvCxnSpPr>
          <p:nvPr/>
        </p:nvCxnSpPr>
        <p:spPr>
          <a:xfrm flipH="1" flipV="1">
            <a:off x="4575875" y="3008917"/>
            <a:ext cx="29991" cy="15956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sp>
        <p:nvSpPr>
          <p:cNvPr id="20" name="ZoneTexte 19">
            <a:extLst>
              <a:ext uri="{FF2B5EF4-FFF2-40B4-BE49-F238E27FC236}">
                <a16:creationId xmlns:a16="http://schemas.microsoft.com/office/drawing/2014/main" id="{94836CE9-705D-B009-BE28-B08FBFEEC706}"/>
              </a:ext>
            </a:extLst>
          </p:cNvPr>
          <p:cNvSpPr txBox="1"/>
          <p:nvPr/>
        </p:nvSpPr>
        <p:spPr>
          <a:xfrm rot="5400000">
            <a:off x="4159193" y="3343145"/>
            <a:ext cx="1094974" cy="261610"/>
          </a:xfrm>
          <a:prstGeom prst="rect">
            <a:avLst/>
          </a:prstGeom>
          <a:noFill/>
        </p:spPr>
        <p:txBody>
          <a:bodyPr wrap="square" rtlCol="0">
            <a:spAutoFit/>
          </a:bodyPr>
          <a:lstStyle/>
          <a:p>
            <a:r>
              <a:rPr lang="fr-FR" sz="1050" dirty="0">
                <a:solidFill>
                  <a:schemeClr val="accent2"/>
                </a:solidFill>
              </a:rPr>
              <a:t>Valeur résidus</a:t>
            </a:r>
          </a:p>
        </p:txBody>
      </p:sp>
    </p:spTree>
    <p:extLst>
      <p:ext uri="{BB962C8B-B14F-4D97-AF65-F5344CB8AC3E}">
        <p14:creationId xmlns:p14="http://schemas.microsoft.com/office/powerpoint/2010/main" val="2414419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9837D-BF8A-B48D-D787-A12BAD12694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88CEE9C-53F1-4D89-728F-DEF3EAC11526}"/>
              </a:ext>
            </a:extLst>
          </p:cNvPr>
          <p:cNvSpPr>
            <a:spLocks noGrp="1"/>
          </p:cNvSpPr>
          <p:nvPr>
            <p:ph type="ctrTitle"/>
          </p:nvPr>
        </p:nvSpPr>
        <p:spPr>
          <a:xfrm>
            <a:off x="3176985" y="80448"/>
            <a:ext cx="5838025" cy="1186165"/>
          </a:xfrm>
          <a:ln w="38100">
            <a:solidFill>
              <a:schemeClr val="accent1"/>
            </a:solidFill>
          </a:ln>
        </p:spPr>
        <p:txBody>
          <a:bodyPr>
            <a:noAutofit/>
          </a:bodyPr>
          <a:lstStyle/>
          <a:p>
            <a:r>
              <a:rPr lang="fr-FR" sz="4000" b="1" dirty="0"/>
              <a:t>Analyse finale : T1</a:t>
            </a:r>
            <a:br>
              <a:rPr lang="fr-FR" sz="4000" b="1" dirty="0"/>
            </a:br>
            <a:r>
              <a:rPr lang="fr-FR" sz="4000" b="1" dirty="0"/>
              <a:t>Les résidus</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E8FF6055-22E2-6CF1-E0EE-2A7FC3BCB6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4" name="Image 3" descr="Une image contenant diagramme, Tracé, ligne, capture d’écran&#10;&#10;Le contenu généré par l’IA peut être incorrect.">
            <a:extLst>
              <a:ext uri="{FF2B5EF4-FFF2-40B4-BE49-F238E27FC236}">
                <a16:creationId xmlns:a16="http://schemas.microsoft.com/office/drawing/2014/main" id="{3B37A428-9C7C-70B7-7E99-3DD3FA0CCD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74238" y="1341120"/>
            <a:ext cx="11419629" cy="3703663"/>
          </a:xfrm>
          <a:prstGeom prst="rect">
            <a:avLst/>
          </a:prstGeom>
        </p:spPr>
      </p:pic>
      <p:pic>
        <p:nvPicPr>
          <p:cNvPr id="7" name="Image 6" descr="Une image contenant texte, capture d’écran, Police, noir&#10;&#10;Le contenu généré par l’IA peut être incorrect.">
            <a:extLst>
              <a:ext uri="{FF2B5EF4-FFF2-40B4-BE49-F238E27FC236}">
                <a16:creationId xmlns:a16="http://schemas.microsoft.com/office/drawing/2014/main" id="{86297A3E-88A7-962C-4910-39B100E3FE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05670" y="5371253"/>
            <a:ext cx="7180657" cy="1094725"/>
          </a:xfrm>
          <a:prstGeom prst="rect">
            <a:avLst/>
          </a:prstGeom>
        </p:spPr>
      </p:pic>
      <p:sp>
        <p:nvSpPr>
          <p:cNvPr id="8" name="ZoneTexte 7">
            <a:extLst>
              <a:ext uri="{FF2B5EF4-FFF2-40B4-BE49-F238E27FC236}">
                <a16:creationId xmlns:a16="http://schemas.microsoft.com/office/drawing/2014/main" id="{378E6E42-B09A-E7C8-25CF-1B212F0FD1AD}"/>
              </a:ext>
            </a:extLst>
          </p:cNvPr>
          <p:cNvSpPr txBox="1"/>
          <p:nvPr/>
        </p:nvSpPr>
        <p:spPr>
          <a:xfrm>
            <a:off x="1713653" y="1550442"/>
            <a:ext cx="647934" cy="261610"/>
          </a:xfrm>
          <a:prstGeom prst="rect">
            <a:avLst/>
          </a:prstGeom>
          <a:noFill/>
        </p:spPr>
        <p:txBody>
          <a:bodyPr wrap="none" rtlCol="0">
            <a:spAutoFit/>
          </a:bodyPr>
          <a:lstStyle/>
          <a:p>
            <a:r>
              <a:rPr lang="fr-FR" sz="1050" dirty="0"/>
              <a:t>ID 1283</a:t>
            </a:r>
          </a:p>
        </p:txBody>
      </p:sp>
      <p:sp>
        <p:nvSpPr>
          <p:cNvPr id="9" name="ZoneTexte 8">
            <a:extLst>
              <a:ext uri="{FF2B5EF4-FFF2-40B4-BE49-F238E27FC236}">
                <a16:creationId xmlns:a16="http://schemas.microsoft.com/office/drawing/2014/main" id="{0B76F8F6-3C68-74DD-A492-C5E4ACCCADA1}"/>
              </a:ext>
            </a:extLst>
          </p:cNvPr>
          <p:cNvSpPr txBox="1"/>
          <p:nvPr/>
        </p:nvSpPr>
        <p:spPr>
          <a:xfrm>
            <a:off x="2272171" y="1789778"/>
            <a:ext cx="572593" cy="261610"/>
          </a:xfrm>
          <a:prstGeom prst="rect">
            <a:avLst/>
          </a:prstGeom>
          <a:noFill/>
        </p:spPr>
        <p:txBody>
          <a:bodyPr wrap="none" rtlCol="0">
            <a:spAutoFit/>
          </a:bodyPr>
          <a:lstStyle/>
          <a:p>
            <a:r>
              <a:rPr lang="fr-FR" sz="1050" dirty="0"/>
              <a:t>ID 341</a:t>
            </a:r>
          </a:p>
        </p:txBody>
      </p:sp>
    </p:spTree>
    <p:extLst>
      <p:ext uri="{BB962C8B-B14F-4D97-AF65-F5344CB8AC3E}">
        <p14:creationId xmlns:p14="http://schemas.microsoft.com/office/powerpoint/2010/main" val="4203014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A2A3D-23BF-B082-D544-FA879528181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26F779E-CD32-046B-F1D1-B44EE7ED97C2}"/>
              </a:ext>
            </a:extLst>
          </p:cNvPr>
          <p:cNvSpPr>
            <a:spLocks noGrp="1"/>
          </p:cNvSpPr>
          <p:nvPr>
            <p:ph type="ctrTitle"/>
          </p:nvPr>
        </p:nvSpPr>
        <p:spPr>
          <a:xfrm>
            <a:off x="2898913" y="154955"/>
            <a:ext cx="6394174" cy="1110628"/>
          </a:xfrm>
          <a:ln w="38100">
            <a:solidFill>
              <a:schemeClr val="accent1"/>
            </a:solidFill>
          </a:ln>
        </p:spPr>
        <p:txBody>
          <a:bodyPr>
            <a:noAutofit/>
          </a:bodyPr>
          <a:lstStyle/>
          <a:p>
            <a:r>
              <a:rPr lang="fr-FR" sz="3600" dirty="0"/>
              <a:t>Analyse finale : T1</a:t>
            </a:r>
            <a:br>
              <a:rPr lang="fr-FR" sz="3600" dirty="0"/>
            </a:br>
            <a:r>
              <a:rPr lang="fr-FR" sz="3600" dirty="0" err="1"/>
              <a:t>Features</a:t>
            </a:r>
            <a:r>
              <a:rPr lang="fr-FR" sz="3600" dirty="0"/>
              <a:t> importance</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F8786FFB-442F-3F72-D1C3-32C4F3C49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4" name="Image 3" descr="Une image contenant texte, ligne, Tracé, capture d’écran&#10;&#10;Le contenu généré par l’IA peut être incorrect.">
            <a:extLst>
              <a:ext uri="{FF2B5EF4-FFF2-40B4-BE49-F238E27FC236}">
                <a16:creationId xmlns:a16="http://schemas.microsoft.com/office/drawing/2014/main" id="{023744C3-12A7-9603-157F-40CD69E814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3360" y="1557845"/>
            <a:ext cx="11765280" cy="4318901"/>
          </a:xfrm>
          <a:prstGeom prst="rect">
            <a:avLst/>
          </a:prstGeom>
        </p:spPr>
      </p:pic>
    </p:spTree>
    <p:extLst>
      <p:ext uri="{BB962C8B-B14F-4D97-AF65-F5344CB8AC3E}">
        <p14:creationId xmlns:p14="http://schemas.microsoft.com/office/powerpoint/2010/main" val="40633493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E96CE5F-8054-EE52-87BA-D3FD38BC8446}"/>
              </a:ext>
            </a:extLst>
          </p:cNvPr>
          <p:cNvSpPr>
            <a:spLocks noGrp="1"/>
          </p:cNvSpPr>
          <p:nvPr>
            <p:ph type="title"/>
          </p:nvPr>
        </p:nvSpPr>
        <p:spPr>
          <a:xfrm>
            <a:off x="1278872" y="270300"/>
            <a:ext cx="4578774" cy="1443355"/>
          </a:xfrm>
          <a:ln w="38100">
            <a:solidFill>
              <a:schemeClr val="accent1"/>
            </a:solidFill>
          </a:ln>
        </p:spPr>
        <p:txBody>
          <a:bodyPr>
            <a:noAutofit/>
          </a:bodyPr>
          <a:lstStyle/>
          <a:p>
            <a:r>
              <a:rPr lang="fr-FR" sz="4000" b="1" dirty="0"/>
              <a:t>Analyse finale : T1</a:t>
            </a:r>
            <a:br>
              <a:rPr lang="fr-FR" sz="4000" b="1" dirty="0"/>
            </a:br>
            <a:r>
              <a:rPr lang="fr-FR" sz="4000" b="1" dirty="0"/>
              <a:t>SHAP values</a:t>
            </a:r>
          </a:p>
        </p:txBody>
      </p:sp>
      <p:pic>
        <p:nvPicPr>
          <p:cNvPr id="5" name="Image 4" descr="Une image contenant texte, capture d’écran, Tracé, nombre&#10;&#10;Le contenu généré par l’IA peut être incorrect.">
            <a:extLst>
              <a:ext uri="{FF2B5EF4-FFF2-40B4-BE49-F238E27FC236}">
                <a16:creationId xmlns:a16="http://schemas.microsoft.com/office/drawing/2014/main" id="{467F20A9-7D72-4243-B10A-5B14F37947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53013" y="-5848"/>
            <a:ext cx="5438987" cy="6863848"/>
          </a:xfrm>
          <a:prstGeom prst="rect">
            <a:avLst/>
          </a:prstGeom>
        </p:spPr>
      </p:pic>
      <p:pic>
        <p:nvPicPr>
          <p:cNvPr id="7" name="Image 6" descr="Une image contenant texte, capture d’écran, Police&#10;&#10;Le contenu généré par l’IA peut être incorrect.">
            <a:extLst>
              <a:ext uri="{FF2B5EF4-FFF2-40B4-BE49-F238E27FC236}">
                <a16:creationId xmlns:a16="http://schemas.microsoft.com/office/drawing/2014/main" id="{219B56D6-5EEC-AA66-5D91-C1E6C14967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53689" y="3111077"/>
            <a:ext cx="4403957" cy="2795258"/>
          </a:xfrm>
          <a:prstGeom prst="rect">
            <a:avLst/>
          </a:prstGeom>
        </p:spPr>
      </p:pic>
      <p:sp>
        <p:nvSpPr>
          <p:cNvPr id="9" name="ZoneTexte 8">
            <a:extLst>
              <a:ext uri="{FF2B5EF4-FFF2-40B4-BE49-F238E27FC236}">
                <a16:creationId xmlns:a16="http://schemas.microsoft.com/office/drawing/2014/main" id="{DA413ED7-A169-5D30-B2DD-1F31D2EDB26D}"/>
              </a:ext>
            </a:extLst>
          </p:cNvPr>
          <p:cNvSpPr txBox="1"/>
          <p:nvPr/>
        </p:nvSpPr>
        <p:spPr>
          <a:xfrm>
            <a:off x="1366280" y="2227700"/>
            <a:ext cx="4578774" cy="369332"/>
          </a:xfrm>
          <a:prstGeom prst="rect">
            <a:avLst/>
          </a:prstGeom>
          <a:noFill/>
        </p:spPr>
        <p:txBody>
          <a:bodyPr wrap="square">
            <a:spAutoFit/>
          </a:bodyPr>
          <a:lstStyle/>
          <a:p>
            <a:r>
              <a:rPr lang="en-US" b="0" i="0" dirty="0">
                <a:solidFill>
                  <a:schemeClr val="accent1"/>
                </a:solidFill>
                <a:effectLst/>
                <a:latin typeface="Consolas" panose="020B0609020204030204" pitchFamily="49" charset="0"/>
              </a:rPr>
              <a:t>SHAP Expected Value (Base): </a:t>
            </a:r>
            <a:r>
              <a:rPr lang="en-US" b="1" i="0" dirty="0">
                <a:solidFill>
                  <a:schemeClr val="accent1"/>
                </a:solidFill>
                <a:effectLst/>
                <a:latin typeface="Consolas" panose="020B0609020204030204" pitchFamily="49" charset="0"/>
              </a:rPr>
              <a:t>71.0443</a:t>
            </a:r>
            <a:endParaRPr lang="fr-FR" b="1" dirty="0">
              <a:solidFill>
                <a:schemeClr val="accent1"/>
              </a:solidFill>
            </a:endParaRPr>
          </a:p>
        </p:txBody>
      </p:sp>
    </p:spTree>
    <p:extLst>
      <p:ext uri="{BB962C8B-B14F-4D97-AF65-F5344CB8AC3E}">
        <p14:creationId xmlns:p14="http://schemas.microsoft.com/office/powerpoint/2010/main" val="448287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4803F-E118-B6D2-EC23-2302166CC98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63DF3B6-78A1-6484-BC17-A1236740E973}"/>
              </a:ext>
            </a:extLst>
          </p:cNvPr>
          <p:cNvSpPr>
            <a:spLocks noGrp="1"/>
          </p:cNvSpPr>
          <p:nvPr>
            <p:ph type="ctrTitle"/>
          </p:nvPr>
        </p:nvSpPr>
        <p:spPr>
          <a:xfrm>
            <a:off x="3278256" y="265007"/>
            <a:ext cx="5635488" cy="820321"/>
          </a:xfrm>
          <a:ln w="38100">
            <a:solidFill>
              <a:schemeClr val="accent1"/>
            </a:solidFill>
          </a:ln>
        </p:spPr>
        <p:txBody>
          <a:bodyPr>
            <a:normAutofit/>
          </a:bodyPr>
          <a:lstStyle/>
          <a:p>
            <a:r>
              <a:rPr lang="fr-FR" sz="4000" b="1" dirty="0"/>
              <a:t>Analyse </a:t>
            </a:r>
            <a:r>
              <a:rPr lang="fr-FR" sz="4000" b="1" dirty="0" err="1"/>
              <a:t>Energyscore</a:t>
            </a:r>
            <a:endParaRPr lang="fr-FR" sz="4000" b="1" dirty="0"/>
          </a:p>
        </p:txBody>
      </p:sp>
      <p:pic>
        <p:nvPicPr>
          <p:cNvPr id="5" name="Image 4" descr="Une image contenant logo, Police, symbole, Graphique&#10;&#10;Le contenu généré par l’IA peut être incorrect.">
            <a:extLst>
              <a:ext uri="{FF2B5EF4-FFF2-40B4-BE49-F238E27FC236}">
                <a16:creationId xmlns:a16="http://schemas.microsoft.com/office/drawing/2014/main" id="{F50E576E-7468-2173-EE86-AA403DB115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6" name="Image 5" descr="Une image contenant texte, ligne, Tracé, diagramme&#10;&#10;Le contenu généré par l’IA peut être incorrect.">
            <a:extLst>
              <a:ext uri="{FF2B5EF4-FFF2-40B4-BE49-F238E27FC236}">
                <a16:creationId xmlns:a16="http://schemas.microsoft.com/office/drawing/2014/main" id="{C0ED80C9-FE9C-4115-17A5-4647859E3E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8762" y="1265583"/>
            <a:ext cx="10789941" cy="4389129"/>
          </a:xfrm>
          <a:prstGeom prst="rect">
            <a:avLst/>
          </a:prstGeom>
        </p:spPr>
      </p:pic>
      <p:sp>
        <p:nvSpPr>
          <p:cNvPr id="8" name="ZoneTexte 7">
            <a:extLst>
              <a:ext uri="{FF2B5EF4-FFF2-40B4-BE49-F238E27FC236}">
                <a16:creationId xmlns:a16="http://schemas.microsoft.com/office/drawing/2014/main" id="{B5E925BC-E9E5-D535-055E-915DF0E9B2EA}"/>
              </a:ext>
            </a:extLst>
          </p:cNvPr>
          <p:cNvSpPr txBox="1"/>
          <p:nvPr/>
        </p:nvSpPr>
        <p:spPr>
          <a:xfrm>
            <a:off x="7550083" y="5686029"/>
            <a:ext cx="3621471" cy="861774"/>
          </a:xfrm>
          <a:prstGeom prst="rect">
            <a:avLst/>
          </a:prstGeom>
          <a:noFill/>
        </p:spPr>
        <p:txBody>
          <a:bodyPr wrap="square">
            <a:spAutoFit/>
          </a:bodyPr>
          <a:lstStyle/>
          <a:p>
            <a:r>
              <a:rPr lang="fr-FR" sz="1600" b="0" i="0" dirty="0">
                <a:solidFill>
                  <a:schemeClr val="accent1"/>
                </a:solidFill>
                <a:effectLst/>
                <a:latin typeface="Consolas" panose="020B0609020204030204" pitchFamily="49" charset="0"/>
              </a:rPr>
              <a:t>Scores on train set: </a:t>
            </a:r>
          </a:p>
          <a:p>
            <a:r>
              <a:rPr lang="fr-FR" sz="1600" b="0" i="0" dirty="0">
                <a:solidFill>
                  <a:schemeClr val="accent1"/>
                </a:solidFill>
                <a:effectLst/>
                <a:latin typeface="Consolas" panose="020B0609020204030204" pitchFamily="49" charset="0"/>
              </a:rPr>
              <a:t>R² : 0.8954 MAE : 10.9606 </a:t>
            </a:r>
          </a:p>
          <a:p>
            <a:r>
              <a:rPr lang="fr-FR" sz="1600" b="0" i="0" dirty="0">
                <a:solidFill>
                  <a:schemeClr val="accent1"/>
                </a:solidFill>
                <a:effectLst/>
                <a:latin typeface="Consolas" panose="020B0609020204030204" pitchFamily="49" charset="0"/>
              </a:rPr>
              <a:t>MSE : 263.9876 RMSE : 16.2477</a:t>
            </a:r>
            <a:endParaRPr lang="fr-FR" sz="1600" dirty="0">
              <a:solidFill>
                <a:schemeClr val="accent1"/>
              </a:solidFill>
            </a:endParaRPr>
          </a:p>
        </p:txBody>
      </p:sp>
      <p:sp>
        <p:nvSpPr>
          <p:cNvPr id="10" name="ZoneTexte 9">
            <a:extLst>
              <a:ext uri="{FF2B5EF4-FFF2-40B4-BE49-F238E27FC236}">
                <a16:creationId xmlns:a16="http://schemas.microsoft.com/office/drawing/2014/main" id="{DE5CFC65-734E-44C7-FA19-D2E94390FC47}"/>
              </a:ext>
            </a:extLst>
          </p:cNvPr>
          <p:cNvSpPr txBox="1"/>
          <p:nvPr/>
        </p:nvSpPr>
        <p:spPr>
          <a:xfrm>
            <a:off x="1986226" y="5686029"/>
            <a:ext cx="3621472" cy="861774"/>
          </a:xfrm>
          <a:prstGeom prst="rect">
            <a:avLst/>
          </a:prstGeom>
          <a:noFill/>
        </p:spPr>
        <p:txBody>
          <a:bodyPr wrap="square">
            <a:spAutoFit/>
          </a:bodyPr>
          <a:lstStyle/>
          <a:p>
            <a:r>
              <a:rPr lang="en-US" sz="1600" b="0" i="0" dirty="0">
                <a:solidFill>
                  <a:schemeClr val="accent1"/>
                </a:solidFill>
                <a:effectLst/>
                <a:latin typeface="Consolas" panose="020B0609020204030204" pitchFamily="49" charset="0"/>
              </a:rPr>
              <a:t>Scores on test set: </a:t>
            </a:r>
          </a:p>
          <a:p>
            <a:r>
              <a:rPr lang="en-US" sz="1600" b="0" i="0" dirty="0">
                <a:solidFill>
                  <a:schemeClr val="accent1"/>
                </a:solidFill>
                <a:effectLst/>
                <a:latin typeface="Consolas" panose="020B0609020204030204" pitchFamily="49" charset="0"/>
              </a:rPr>
              <a:t>R² : 0.7700 MAE : 16.7069 </a:t>
            </a:r>
          </a:p>
          <a:p>
            <a:r>
              <a:rPr lang="en-US" sz="1600" b="0" i="0" dirty="0">
                <a:solidFill>
                  <a:schemeClr val="accent1"/>
                </a:solidFill>
                <a:effectLst/>
                <a:latin typeface="Consolas" panose="020B0609020204030204" pitchFamily="49" charset="0"/>
              </a:rPr>
              <a:t>MSE : 697.5975 RMSE : 26.4121</a:t>
            </a:r>
            <a:endParaRPr lang="fr-FR" sz="1600" dirty="0">
              <a:solidFill>
                <a:schemeClr val="accent1"/>
              </a:solidFill>
            </a:endParaRPr>
          </a:p>
        </p:txBody>
      </p:sp>
    </p:spTree>
    <p:extLst>
      <p:ext uri="{BB962C8B-B14F-4D97-AF65-F5344CB8AC3E}">
        <p14:creationId xmlns:p14="http://schemas.microsoft.com/office/powerpoint/2010/main" val="3507326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D4CAC-C4B8-FB85-56D2-129BE67A480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617DB57-3667-7812-B1B1-A0141D247205}"/>
              </a:ext>
            </a:extLst>
          </p:cNvPr>
          <p:cNvSpPr>
            <a:spLocks noGrp="1"/>
          </p:cNvSpPr>
          <p:nvPr>
            <p:ph type="ctrTitle"/>
          </p:nvPr>
        </p:nvSpPr>
        <p:spPr>
          <a:xfrm>
            <a:off x="3041521" y="235804"/>
            <a:ext cx="6108958" cy="772992"/>
          </a:xfrm>
          <a:ln w="38100">
            <a:solidFill>
              <a:schemeClr val="accent1"/>
            </a:solidFill>
          </a:ln>
        </p:spPr>
        <p:txBody>
          <a:bodyPr>
            <a:normAutofit/>
          </a:bodyPr>
          <a:lstStyle/>
          <a:p>
            <a:r>
              <a:rPr lang="fr-FR" sz="4000" b="1" dirty="0"/>
              <a:t>Analyse </a:t>
            </a:r>
            <a:r>
              <a:rPr lang="fr-FR" sz="4000" b="1" dirty="0" err="1"/>
              <a:t>Energyscore</a:t>
            </a:r>
            <a:endParaRPr lang="fr-FR" sz="4000" b="1" dirty="0"/>
          </a:p>
        </p:txBody>
      </p:sp>
      <p:pic>
        <p:nvPicPr>
          <p:cNvPr id="5" name="Image 4" descr="Une image contenant logo, Police, symbole, Graphique&#10;&#10;Le contenu généré par l’IA peut être incorrect.">
            <a:extLst>
              <a:ext uri="{FF2B5EF4-FFF2-40B4-BE49-F238E27FC236}">
                <a16:creationId xmlns:a16="http://schemas.microsoft.com/office/drawing/2014/main" id="{78A71C5E-6D9E-0949-F171-60AF3A2809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pic>
        <p:nvPicPr>
          <p:cNvPr id="4" name="Image 3" descr="Une image contenant texte, ligne, diagramme, Tracé&#10;&#10;Le contenu généré par l’IA peut être incorrect.">
            <a:extLst>
              <a:ext uri="{FF2B5EF4-FFF2-40B4-BE49-F238E27FC236}">
                <a16:creationId xmlns:a16="http://schemas.microsoft.com/office/drawing/2014/main" id="{26FA8BF2-D020-9C86-2091-BC614FFB389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9013" y="1754442"/>
            <a:ext cx="11893973" cy="4366143"/>
          </a:xfrm>
          <a:prstGeom prst="rect">
            <a:avLst/>
          </a:prstGeom>
        </p:spPr>
      </p:pic>
      <p:cxnSp>
        <p:nvCxnSpPr>
          <p:cNvPr id="7" name="Connecteur droit 6">
            <a:extLst>
              <a:ext uri="{FF2B5EF4-FFF2-40B4-BE49-F238E27FC236}">
                <a16:creationId xmlns:a16="http://schemas.microsoft.com/office/drawing/2014/main" id="{51C5726C-FF5C-97D6-ED7C-1FB9A9E8D449}"/>
              </a:ext>
            </a:extLst>
          </p:cNvPr>
          <p:cNvCxnSpPr/>
          <p:nvPr/>
        </p:nvCxnSpPr>
        <p:spPr>
          <a:xfrm>
            <a:off x="1496907" y="2248747"/>
            <a:ext cx="1063413"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6768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EBD549-FBD2-1D92-AA99-D141EE56C3F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BB0A11F-B201-76CB-5BAA-16BCF7B8A28C}"/>
              </a:ext>
            </a:extLst>
          </p:cNvPr>
          <p:cNvSpPr>
            <a:spLocks noGrp="1"/>
          </p:cNvSpPr>
          <p:nvPr>
            <p:ph type="ctrTitle"/>
          </p:nvPr>
        </p:nvSpPr>
        <p:spPr>
          <a:xfrm>
            <a:off x="1459417" y="286638"/>
            <a:ext cx="3985793" cy="1110628"/>
          </a:xfrm>
          <a:ln w="38100">
            <a:solidFill>
              <a:schemeClr val="accent1"/>
            </a:solidFill>
          </a:ln>
        </p:spPr>
        <p:txBody>
          <a:bodyPr>
            <a:normAutofit fontScale="90000"/>
          </a:bodyPr>
          <a:lstStyle/>
          <a:p>
            <a:r>
              <a:rPr lang="fr-FR" sz="4400" dirty="0"/>
              <a:t>Analyse </a:t>
            </a:r>
            <a:r>
              <a:rPr lang="fr-FR" sz="4400" dirty="0" err="1"/>
              <a:t>Energyscore</a:t>
            </a:r>
            <a:endParaRPr lang="fr-FR" sz="4400" dirty="0"/>
          </a:p>
        </p:txBody>
      </p:sp>
      <p:pic>
        <p:nvPicPr>
          <p:cNvPr id="4" name="Image 3" descr="Une image contenant texte, capture d’écran, nombre, Tracé&#10;&#10;Le contenu généré par l’IA peut être incorrect.">
            <a:extLst>
              <a:ext uri="{FF2B5EF4-FFF2-40B4-BE49-F238E27FC236}">
                <a16:creationId xmlns:a16="http://schemas.microsoft.com/office/drawing/2014/main" id="{CB6DA399-4C24-3353-3AE0-780D7F99DB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832" y="0"/>
            <a:ext cx="5748168" cy="6858000"/>
          </a:xfrm>
          <a:prstGeom prst="rect">
            <a:avLst/>
          </a:prstGeom>
        </p:spPr>
      </p:pic>
      <p:sp>
        <p:nvSpPr>
          <p:cNvPr id="6" name="ZoneTexte 5">
            <a:extLst>
              <a:ext uri="{FF2B5EF4-FFF2-40B4-BE49-F238E27FC236}">
                <a16:creationId xmlns:a16="http://schemas.microsoft.com/office/drawing/2014/main" id="{A2D84385-57CB-B567-4AA6-A890E0ABD034}"/>
              </a:ext>
            </a:extLst>
          </p:cNvPr>
          <p:cNvSpPr txBox="1"/>
          <p:nvPr/>
        </p:nvSpPr>
        <p:spPr>
          <a:xfrm>
            <a:off x="1300154" y="1753701"/>
            <a:ext cx="4304320" cy="369332"/>
          </a:xfrm>
          <a:prstGeom prst="rect">
            <a:avLst/>
          </a:prstGeom>
          <a:noFill/>
        </p:spPr>
        <p:txBody>
          <a:bodyPr wrap="none" rtlCol="0">
            <a:spAutoFit/>
          </a:bodyPr>
          <a:lstStyle/>
          <a:p>
            <a:r>
              <a:rPr lang="fr-FR" dirty="0">
                <a:solidFill>
                  <a:srgbClr val="FF0000"/>
                </a:solidFill>
              </a:rPr>
              <a:t>Les valeurs élevées baissent la prédiction</a:t>
            </a:r>
          </a:p>
        </p:txBody>
      </p:sp>
      <p:sp>
        <p:nvSpPr>
          <p:cNvPr id="7" name="ZoneTexte 6">
            <a:extLst>
              <a:ext uri="{FF2B5EF4-FFF2-40B4-BE49-F238E27FC236}">
                <a16:creationId xmlns:a16="http://schemas.microsoft.com/office/drawing/2014/main" id="{70739D23-94AC-512D-DEF8-708170B583D1}"/>
              </a:ext>
            </a:extLst>
          </p:cNvPr>
          <p:cNvSpPr txBox="1"/>
          <p:nvPr/>
        </p:nvSpPr>
        <p:spPr>
          <a:xfrm>
            <a:off x="1455272" y="2276088"/>
            <a:ext cx="3832844" cy="369332"/>
          </a:xfrm>
          <a:prstGeom prst="rect">
            <a:avLst/>
          </a:prstGeom>
          <a:noFill/>
        </p:spPr>
        <p:txBody>
          <a:bodyPr wrap="none" rtlCol="0">
            <a:spAutoFit/>
          </a:bodyPr>
          <a:lstStyle/>
          <a:p>
            <a:r>
              <a:rPr lang="fr-FR" dirty="0">
                <a:solidFill>
                  <a:schemeClr val="accent1"/>
                </a:solidFill>
              </a:rPr>
              <a:t>Quelques </a:t>
            </a:r>
            <a:r>
              <a:rPr lang="fr-FR" dirty="0" err="1">
                <a:solidFill>
                  <a:schemeClr val="accent1"/>
                </a:solidFill>
              </a:rPr>
              <a:t>outliers</a:t>
            </a:r>
            <a:r>
              <a:rPr lang="fr-FR" dirty="0">
                <a:solidFill>
                  <a:schemeClr val="accent1"/>
                </a:solidFill>
              </a:rPr>
              <a:t> faibles : de 50 à 85</a:t>
            </a:r>
          </a:p>
        </p:txBody>
      </p:sp>
      <p:pic>
        <p:nvPicPr>
          <p:cNvPr id="11" name="Image 10" descr="Une image contenant texte, capture d’écran, Police&#10;&#10;Le contenu généré par l’IA peut être incorrect.">
            <a:extLst>
              <a:ext uri="{FF2B5EF4-FFF2-40B4-BE49-F238E27FC236}">
                <a16:creationId xmlns:a16="http://schemas.microsoft.com/office/drawing/2014/main" id="{4ED8363E-9144-681D-7AFB-EA742C66ED0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9190" y="3429000"/>
            <a:ext cx="5076810" cy="2785194"/>
          </a:xfrm>
          <a:prstGeom prst="rect">
            <a:avLst/>
          </a:prstGeom>
        </p:spPr>
      </p:pic>
      <p:sp>
        <p:nvSpPr>
          <p:cNvPr id="14" name="ZoneTexte 13">
            <a:extLst>
              <a:ext uri="{FF2B5EF4-FFF2-40B4-BE49-F238E27FC236}">
                <a16:creationId xmlns:a16="http://schemas.microsoft.com/office/drawing/2014/main" id="{5D9237C6-A4D1-C041-29CD-8F498F837ED8}"/>
              </a:ext>
            </a:extLst>
          </p:cNvPr>
          <p:cNvSpPr txBox="1"/>
          <p:nvPr/>
        </p:nvSpPr>
        <p:spPr>
          <a:xfrm>
            <a:off x="1300154" y="2906613"/>
            <a:ext cx="4653606" cy="369332"/>
          </a:xfrm>
          <a:prstGeom prst="rect">
            <a:avLst/>
          </a:prstGeom>
          <a:noFill/>
        </p:spPr>
        <p:txBody>
          <a:bodyPr wrap="square">
            <a:spAutoFit/>
          </a:bodyPr>
          <a:lstStyle/>
          <a:p>
            <a:r>
              <a:rPr lang="en-US" b="0" i="0" dirty="0">
                <a:effectLst/>
                <a:latin typeface="Consolas" panose="020B0609020204030204" pitchFamily="49" charset="0"/>
              </a:rPr>
              <a:t>SHAP Expected Value (Base): 64.3063</a:t>
            </a:r>
            <a:endParaRPr lang="fr-FR" dirty="0"/>
          </a:p>
        </p:txBody>
      </p:sp>
    </p:spTree>
    <p:extLst>
      <p:ext uri="{BB962C8B-B14F-4D97-AF65-F5344CB8AC3E}">
        <p14:creationId xmlns:p14="http://schemas.microsoft.com/office/powerpoint/2010/main" val="28531227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B81E400-3D44-C08D-AEF8-9D2C7AC60D77}"/>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659D654B-8D81-2EF9-5E38-D5CC51C13FD2}"/>
              </a:ext>
            </a:extLst>
          </p:cNvPr>
          <p:cNvSpPr>
            <a:spLocks noGrp="1"/>
          </p:cNvSpPr>
          <p:nvPr>
            <p:ph type="ctrTitle"/>
          </p:nvPr>
        </p:nvSpPr>
        <p:spPr>
          <a:xfrm>
            <a:off x="1371597" y="348865"/>
            <a:ext cx="10044023" cy="877729"/>
          </a:xfrm>
        </p:spPr>
        <p:txBody>
          <a:bodyPr vert="horz" lIns="91440" tIns="45720" rIns="91440" bIns="45720" rtlCol="0" anchor="ctr">
            <a:normAutofit/>
          </a:bodyPr>
          <a:lstStyle/>
          <a:p>
            <a:pPr algn="l"/>
            <a:r>
              <a:rPr lang="en-US" sz="4000" kern="1200">
                <a:solidFill>
                  <a:srgbClr val="FFFFFF"/>
                </a:solidFill>
                <a:latin typeface="+mj-lt"/>
                <a:ea typeface="+mj-ea"/>
                <a:cs typeface="+mj-cs"/>
              </a:rPr>
              <a:t>A retenir</a:t>
            </a:r>
          </a:p>
        </p:txBody>
      </p:sp>
      <p:pic>
        <p:nvPicPr>
          <p:cNvPr id="5" name="Image 4" descr="Une image contenant logo, Police, symbole, Graphique&#10;&#10;Le contenu généré par l’IA peut être incorrect.">
            <a:extLst>
              <a:ext uri="{FF2B5EF4-FFF2-40B4-BE49-F238E27FC236}">
                <a16:creationId xmlns:a16="http://schemas.microsoft.com/office/drawing/2014/main" id="{A8692833-848B-3E2F-FAA7-F84C29E3A4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16858" y="0"/>
            <a:ext cx="1875142" cy="622300"/>
          </a:xfrm>
          <a:prstGeom prst="rect">
            <a:avLst/>
          </a:prstGeom>
        </p:spPr>
      </p:pic>
      <p:graphicFrame>
        <p:nvGraphicFramePr>
          <p:cNvPr id="7" name="ZoneTexte 2">
            <a:extLst>
              <a:ext uri="{FF2B5EF4-FFF2-40B4-BE49-F238E27FC236}">
                <a16:creationId xmlns:a16="http://schemas.microsoft.com/office/drawing/2014/main" id="{B12CCBE4-BC82-F2BF-97D3-1A12BB3BD637}"/>
              </a:ext>
            </a:extLst>
          </p:cNvPr>
          <p:cNvGraphicFramePr/>
          <p:nvPr>
            <p:extLst>
              <p:ext uri="{D42A27DB-BD31-4B8C-83A1-F6EECF244321}">
                <p14:modId xmlns:p14="http://schemas.microsoft.com/office/powerpoint/2010/main" val="3957983297"/>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5973769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925</TotalTime>
  <Words>2676</Words>
  <Application>Microsoft Office PowerPoint</Application>
  <PresentationFormat>Grand écran</PresentationFormat>
  <Paragraphs>273</Paragraphs>
  <Slides>21</Slides>
  <Notes>21</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21</vt:i4>
      </vt:variant>
    </vt:vector>
  </HeadingPairs>
  <TitlesOfParts>
    <vt:vector size="26" baseType="lpstr">
      <vt:lpstr>Aptos</vt:lpstr>
      <vt:lpstr>Aptos Display</vt:lpstr>
      <vt:lpstr>Arial</vt:lpstr>
      <vt:lpstr>Consolas</vt:lpstr>
      <vt:lpstr>Thème Office</vt:lpstr>
      <vt:lpstr>Anticipez les besoins en consommations de bâtiments</vt:lpstr>
      <vt:lpstr>Sommaire</vt:lpstr>
      <vt:lpstr>Introduction</vt:lpstr>
      <vt:lpstr>Jeu : initial VS utilisé </vt:lpstr>
      <vt:lpstr>Présentation PowerPoint</vt:lpstr>
      <vt:lpstr>Outliers</vt:lpstr>
      <vt:lpstr>Présentation PowerPoint</vt:lpstr>
      <vt:lpstr>Preprocessing global </vt:lpstr>
      <vt:lpstr>Modèles : premier test</vt:lpstr>
      <vt:lpstr>Preprocessing spécifique</vt:lpstr>
      <vt:lpstr>Feature Engineering spécifique </vt:lpstr>
      <vt:lpstr>Modèle : améliorations data</vt:lpstr>
      <vt:lpstr>Modèles : paramétrages</vt:lpstr>
      <vt:lpstr>Analyse finale : T1 SiteEUIWN(kBtu/sf)</vt:lpstr>
      <vt:lpstr>Analyse finale : T1 Les résidus</vt:lpstr>
      <vt:lpstr>Analyse finale : T1 Features importance</vt:lpstr>
      <vt:lpstr>Analyse finale : T1 SHAP values</vt:lpstr>
      <vt:lpstr>Analyse Energyscore</vt:lpstr>
      <vt:lpstr>Analyse Energyscore</vt:lpstr>
      <vt:lpstr>Analyse Energyscore</vt:lpstr>
      <vt:lpstr>A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Guillaume Rooman</dc:creator>
  <cp:lastModifiedBy>Guillaume Rooman</cp:lastModifiedBy>
  <cp:revision>14</cp:revision>
  <dcterms:created xsi:type="dcterms:W3CDTF">2025-04-22T09:32:09Z</dcterms:created>
  <dcterms:modified xsi:type="dcterms:W3CDTF">2025-04-27T08:21:32Z</dcterms:modified>
</cp:coreProperties>
</file>